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notesMaster" Target="notesMasters/notesMaster1.xml" /><Relationship Id="rId42" Type="http://schemas.openxmlformats.org/officeDocument/2006/relationships/viewProps" Target="viewProps.xml" /><Relationship Id="rId41" Type="http://schemas.openxmlformats.org/officeDocument/2006/relationships/presProps" Target="presProps.xml" /><Relationship Id="rId1" Type="http://schemas.openxmlformats.org/officeDocument/2006/relationships/slideMaster" Target="slideMasters/slideMaster1.xml" /><Relationship Id="rId44" Type="http://schemas.openxmlformats.org/officeDocument/2006/relationships/tableStyles" Target="tableStyles.xml" /><Relationship Id="rId43"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2025년 도쿄 여행의 핵심은 데이터 기반의 스마트한 준비입니다. 성수기인 2월과 7월에는 검색량이 급증하므로 예약 전쟁을 피하기 위한 전략이 필요하며, 실용적인 쇼핑 아이템과 필수 디지털 앱을 미리 챙기는 것이 여행의 질을 결정합니다.</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도쿄 여행 전 반드시 체크해야 할 기술적 준비 사항들입니다. 특히 일본은 여전히 현금 결제만 가능한 곳이 많으므로 트래블 카드와 현금을 적절히 섞어 준비해야 하며, 전압 규격에 맞는 어댑터와 보조 배터리는 필수적입니다.</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나리타 공항에서 시내로 들어오는 방법은 시간과 비용에 따라 다양합니다. 가장 빠른 스카이라이너와 주요 거점 직행이 편리한 N’EX, 그리고 숙소 문앞까지 가는 리무진 버스의 장단점을 표를 통해 비교 분석하여 최적의 경로를 선택하시기 바랍니다.</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나 홀로 여행자를 위한 2박 3일 표준 예산 가이드입니다. 항공권과 숙박비가 전체의 60% 이상을 차지하므로 사전 예약을 통해 이 비용을 줄이는 것이 관건이며, 현지 식비는 하루 10만 원 내외면 충분히 미식을 즐길 수 있습니다.</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숙소 위치는 여행의 동선을 결정하는 가장 중요한 요소입니다. 교통의 중심 신주쿠와 초보자에게 친절한 우에노를 우선순위로 두었으며, 여행의 목적이 쇼핑인지 관광인지에 따라 지역별 특징을 고려하여 선택하는 것이 좋습니다.</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첫날은 도심의 에너지를 느끼는 코스입니다. 신주쿠를 거점으로 삼아 아키하바라의 서브컬처를 경험하고, 저녁에는 무료 전망대인 도쿄도청에서 야경을 감상하며 도쿄의 야경과 미식을 동시에 즐기는 일정을 추천합니다.</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둘째 날은 도쿄의 과거와 현재를 잇는 코스입니다. 오전에는 아사쿠사에서 전통적인 미를 감상하고, 오후에는 하라주쿠와 시부야를 돌며 일본의 현대적인 패션과 활발한 도시 문화를 직접 체험하는 것을 목표로 합니다.</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마지막 날은 귀국을 고려하여 여유로운 동선을 짭니다. 오다이바의 탁 트인 풍경과 건담을 구경한 뒤, 공항 가기 전 도쿄역 주변에서 미식과 쇼핑을 즐기며 여행을 깔끔하게 마무리하는 일정입니다.</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현재 도쿄에서 가장 인기 있는 전망대인 시부야 스카이 공략법입니다. 일몰 1시간 전 입장이 최고의 가성비를 제공하며, 예약이 매우 치열하므로 한 달 전부터 준비하는 철저함이 필요합니다. 옥상에서는 안전상 짐 소지가 엄격히 제한됩니다.</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도쿄의 최신 핫플레이스인 아자부다이 힐즈는 단순한 쇼핑몰을 넘어선 예술적 공간입니다. 팀랩 보더리스의 귀환과 도쿄 타워를 가장 가까이서 볼 수 있는 전망대, 그리고 유명 맛집들이 집약되어 있어 하루를 투자하기 충분합니다.</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일본 드럭스토어에서 사야 할 실용적인 의약품과 생활용품 리스트입니다. 아크네스 25나 로토 안약 등은 한국 여행객들의 오랜 스테디셀러이며, 5,000엔 이상 구매 시 10% 면세 혜택을 받을 수 있으므로 한 곳에서 모아 구매하는 것이 경제적입니다.</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긴자는 도쿄 쇼핑의 정점입니다. 고급스러운 백화점부터 유니클로, 무인양품 같은 대중적인 브랜드의 거대 매장까지 한곳에 모여 있습니다. 특히 미쓰코시의 아트 아쿠아리움 같은 전시 공간도 함께 즐길 수 있어 문화적 경험도 가능합니다.</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문구 애호가라면 절대 지나칠 수 없는 도쿄의 대표 매장들입니다. 고급스러운 선물을 원한다면 이토야를, 가성비 있는 대량 구매를 원한다면 세카이도를 추천하며, 나만의 특별한 아이템을 원한다면 카키모리를 방문해 보세요.</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도쿄의 서브컬처 성지는 지역별로 타겟이 다릅니다. 아키하바라가 피규어와 전자제품 중심의 남성향 문화가 강하다면, 이케부쿠로는 여성향 콘텐츠와 코스프레 문화가 더 풍부합니다. 자신의 취향에 맞춰 지역을 선택하는 지혜가 필요합니다.</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도쿄는 감성적인 인테리어 소품의 천국입니다. 오프라인 매장에서 실물의 질감과 마감을 직접 확인하고 구매하는 재미가 쏠쏠합니다. 특히 주방용품이나 인센스 같은 소품들은 여행 후에도 일상에서 여행의 기억을 되살려주는 훌륭한 아이템입니다.</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도쿄의 맛집들은 전통과 창의성을 동시에 갖추고 있습니다. 미슐랭 스타 식당부터 고독한 미식가의 가성비 맛집까지, 현지 리포터들이 엄선한 곳들을 중심으로 미식 여행을 계획해 보시기 바랍니다. 인기 식당은 사전 예약이 필수입니다.</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일본 주류는 선물용으로 인기가 매우 높습니다. 고급스러운 패키지를 원하면 백화점이나 면세점을, 실속 있는 구매를 원하면 빅카메라나 드럭스토어의 주류 코너를 공략하는 것이 좋습니다. 법정 연령인 만 20세 준수와 면세 한도 확인은 필수입니다.</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2026년부터 일본 여행의 쇼핑 패턴이 크게 바뀝니다. 더 이상 매장에서 즉시 할인을 받는 것이 아니라 공항에서 줄을 서서 돈을 돌려받아야 하므로, 쇼핑을 즐기는 여행자라면 이 변화를 미리 인지하고 일정 계획에 반영해야 합니다.</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지금까지 2025년 도쿄 여행을 위한 핵심 정보들을 살펴보았습니다. 패스의 적절한 활용과 현지 문화에 대한 존중, 그리고 최신 정보에 기반한 유연한 대처가 여러분의 여행을 더욱 완벽하게 만들어줄 것입니다. 안전하고 즐거운 도쿄 여행 되시기 바랍니다.</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3.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6.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8.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2025년 도쿄 여행 트렌드</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데이터 분석 기반 여행 전략</a:t>
            </a:r>
          </a:p>
        </p:txBody>
      </p:sp>
      <p:sp>
        <p:nvSpPr>
          <p:cNvPr id="3" name="Content Placeholder 2"/>
          <p:cNvSpPr>
            <a:spLocks noGrp="1"/>
          </p:cNvSpPr>
          <p:nvPr>
            <p:ph idx="1"/>
          </p:nvPr>
        </p:nvSpPr>
        <p:spPr/>
        <p:txBody>
          <a:bodyPr/>
          <a:lstStyle/>
          <a:p>
            <a:pPr lvl="0"/>
            <a:r>
              <a:rPr/>
              <a:t>구글 트렌드 분석 결과 2025년 2월과 7월 성수기 기간 일본 여행 준비물 검색량의 기록적 폭증</a:t>
            </a:r>
          </a:p>
          <a:p>
            <a:pPr lvl="0"/>
            <a:r>
              <a:rPr/>
              <a:t>여행 비수기인 9월 진입 시기에 맞춘 여유로운 일정 구성과 효율적인 비용 절감을 통한 알뜰 여행 계획 수립</a:t>
            </a:r>
          </a:p>
          <a:p>
            <a:pPr lvl="0"/>
            <a:r>
              <a:rPr/>
              <a:t>2025년 실사용 데이터 기반의 의약품과 생활용품 및 화장품 중심 인기 쇼핑 카테고리 집중 공략 전략</a:t>
            </a:r>
          </a:p>
          <a:p>
            <a:pPr lvl="0"/>
            <a:r>
              <a:rPr/>
              <a:t>실용성과 편의성을 극대화하기 위한 구글맵과 타베로그 및 파파고 등 필수 여행 앱 패키지의 사전 설치</a:t>
            </a:r>
          </a:p>
          <a:p>
            <a:pPr lvl="0"/>
            <a:r>
              <a:rPr/>
              <a:t>2025년 12월 전년 대비 70% 상승이 예상되는 여행 준비물 수요에 대비한 선제적 물량 확보 및 정보 수집</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여행 필수 준비물</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체크리스트 및 사전 준비</a:t>
            </a:r>
          </a:p>
        </p:txBody>
      </p:sp>
      <p:sp>
        <p:nvSpPr>
          <p:cNvPr id="3" name="Content Placeholder 2"/>
          <p:cNvSpPr>
            <a:spLocks noGrp="1"/>
          </p:cNvSpPr>
          <p:nvPr>
            <p:ph idx="1"/>
          </p:nvPr>
        </p:nvSpPr>
        <p:spPr/>
        <p:txBody>
          <a:bodyPr/>
          <a:lstStyle/>
          <a:p>
            <a:pPr lvl="0"/>
            <a:r>
              <a:rPr/>
              <a:t>포켓 와이파이 또는 유심과 장시간 외부 활동을 지원하는 고용량 보조 배터리의 안정적 네트워크 환경 확보</a:t>
            </a:r>
          </a:p>
          <a:p>
            <a:pPr lvl="0"/>
            <a:r>
              <a:rPr/>
              <a:t>일본 전용 110V 플러그인 일명 돼지코 지참과 비상 상황을 대비한 포괄적인 여행자 보험의 가입 완료</a:t>
            </a:r>
          </a:p>
          <a:p>
            <a:pPr lvl="0"/>
            <a:r>
              <a:rPr/>
              <a:t>현지에서의 원활한 소통을 돕는 기본적인 일본어 인사말 메모와 구글 맵을 활용한 방문지 사전 저장</a:t>
            </a:r>
          </a:p>
          <a:p>
            <a:pPr lvl="0"/>
            <a:r>
              <a:rPr/>
              <a:t>수수료 절감을 위한 트래블로그나 트래블월렛 카드 준비와 소액 결제를 위한 충분한 엔화 현금 소지</a:t>
            </a:r>
          </a:p>
          <a:p>
            <a:pPr lvl="0"/>
            <a:r>
              <a:rPr/>
              <a:t>기내 수하물 규정 준수를 위한 액체류 용량 확인과 기존 복용 약이 있을 경우 전문가 상담 후 지참</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나리타 공항 교통수단</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시내 이동 수단 비교 분석</a:t>
            </a:r>
          </a:p>
        </p:txBody>
      </p:sp>
      <p:sp>
        <p:nvSpPr>
          <p:cNvPr id="4" name="Text Placeholder 3"/>
          <p:cNvSpPr>
            <a:spLocks noGrp="1"/>
          </p:cNvSpPr>
          <p:nvPr>
            <p:ph idx="2" sz="half" type="body"/>
          </p:nvPr>
        </p:nvSpPr>
        <p:spPr/>
        <p:txBody>
          <a:bodyPr/>
          <a:lstStyle/>
          <a:p>
            <a:pPr lvl="0"/>
            <a:r>
              <a:rPr/>
              <a:t>정시성이 우수하고 도로 정체의 영향이 없는 스카이라이너를 활용한 우에노역까지의 41분 초고속 이동</a:t>
            </a:r>
          </a:p>
          <a:p>
            <a:pPr lvl="0"/>
            <a:r>
              <a:rPr/>
              <a:t>도쿄역과 신주쿠 및 요코하마까지 직행하며 넉넉한 수하물 보관 공간을 제공하는 나리타 익스프레스 이용</a:t>
            </a:r>
          </a:p>
          <a:p>
            <a:pPr lvl="0"/>
            <a:r>
              <a:rPr/>
              <a:t>무거운 짐을 들고 이동하는 가족 단위 여행객에게 최적화된 주요 호텔 앞까지 운행하는 공항 리무진 버스</a:t>
            </a:r>
          </a:p>
          <a:p>
            <a:pPr lvl="0"/>
            <a:r>
              <a:rPr/>
              <a:t>1,500엔대의 파격적인 가격으로 도쿄역이나 긴자까지 직행 가능한 최고 가성비의 저가 공항 버스 탑승</a:t>
            </a:r>
          </a:p>
          <a:p>
            <a:pPr lvl="0"/>
            <a:r>
              <a:rPr/>
              <a:t>대중교통 이용이 불가능한 심야 도착 시 3~4인 동행을 통한 비용 분담형 택시 이동 서비스 활용</a:t>
            </a:r>
          </a:p>
          <a:p>
            <a:pPr lvl="0" indent="0" marL="0">
              <a:buNone/>
            </a:pPr>
            <a:r>
              <a:rPr/>
              <a:t>[나리타 공항 이동 수단 지표 비교]</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수단</a:t>
                      </a:r>
                    </a:p>
                  </a:txBody>
                  <a:tcPr/>
                </a:tc>
                <a:tc>
                  <a:txBody>
                    <a:bodyPr/>
                    <a:lstStyle/>
                    <a:p>
                      <a:pPr lvl="0" indent="0" marL="0" algn="l">
                        <a:buNone/>
                      </a:pPr>
                      <a:r>
                        <a:rPr/>
                        <a:t>소요 시간</a:t>
                      </a:r>
                    </a:p>
                  </a:txBody>
                  <a:tcPr/>
                </a:tc>
                <a:tc>
                  <a:txBody>
                    <a:bodyPr/>
                    <a:lstStyle/>
                    <a:p>
                      <a:pPr lvl="0" indent="0" marL="0" algn="l">
                        <a:buNone/>
                      </a:pPr>
                      <a:r>
                        <a:rPr/>
                        <a:t>편도 요금</a:t>
                      </a:r>
                    </a:p>
                  </a:txBody>
                  <a:tcPr/>
                </a:tc>
                <a:tc>
                  <a:txBody>
                    <a:bodyPr/>
                    <a:lstStyle/>
                    <a:p>
                      <a:pPr lvl="0" indent="0" marL="0" algn="l">
                        <a:buNone/>
                      </a:pPr>
                      <a:r>
                        <a:rPr/>
                        <a:t>추천 상황</a:t>
                      </a:r>
                    </a:p>
                  </a:txBody>
                  <a:tcPr/>
                </a:tc>
              </a:tr>
              <a:tr h="0">
                <a:tc>
                  <a:txBody>
                    <a:bodyPr/>
                    <a:lstStyle/>
                    <a:p>
                      <a:pPr lvl="0" indent="0" marL="0" algn="l">
                        <a:buNone/>
                      </a:pPr>
                      <a:r>
                        <a:rPr/>
                        <a:t>스카이라이너</a:t>
                      </a:r>
                    </a:p>
                  </a:txBody>
                </a:tc>
                <a:tc>
                  <a:txBody>
                    <a:bodyPr/>
                    <a:lstStyle/>
                    <a:p>
                      <a:pPr lvl="0" indent="0" marL="0" algn="l">
                        <a:buNone/>
                      </a:pPr>
                      <a:r>
                        <a:rPr/>
                        <a:t>약 41분</a:t>
                      </a:r>
                    </a:p>
                  </a:txBody>
                </a:tc>
                <a:tc>
                  <a:txBody>
                    <a:bodyPr/>
                    <a:lstStyle/>
                    <a:p>
                      <a:pPr lvl="0" indent="0" marL="0" algn="l">
                        <a:buNone/>
                      </a:pPr>
                      <a:r>
                        <a:rPr/>
                        <a:t>2,520엔</a:t>
                      </a:r>
                    </a:p>
                  </a:txBody>
                </a:tc>
                <a:tc>
                  <a:txBody>
                    <a:bodyPr/>
                    <a:lstStyle/>
                    <a:p>
                      <a:pPr lvl="0" indent="0" marL="0" algn="l">
                        <a:buNone/>
                      </a:pPr>
                      <a:r>
                        <a:rPr/>
                        <a:t>우에노 방면, 빠른 이동</a:t>
                      </a:r>
                    </a:p>
                  </a:txBody>
                </a:tc>
              </a:tr>
              <a:tr h="0">
                <a:tc>
                  <a:txBody>
                    <a:bodyPr/>
                    <a:lstStyle/>
                    <a:p>
                      <a:pPr lvl="0" indent="0" marL="0" algn="l">
                        <a:buNone/>
                      </a:pPr>
                      <a:r>
                        <a:rPr/>
                        <a:t>N’EX</a:t>
                      </a:r>
                    </a:p>
                  </a:txBody>
                </a:tc>
                <a:tc>
                  <a:txBody>
                    <a:bodyPr/>
                    <a:lstStyle/>
                    <a:p>
                      <a:pPr lvl="0" indent="0" marL="0" algn="l">
                        <a:buNone/>
                      </a:pPr>
                      <a:r>
                        <a:rPr/>
                        <a:t>약 60분</a:t>
                      </a:r>
                    </a:p>
                  </a:txBody>
                </a:tc>
                <a:tc>
                  <a:txBody>
                    <a:bodyPr/>
                    <a:lstStyle/>
                    <a:p>
                      <a:pPr lvl="0" indent="0" marL="0" algn="l">
                        <a:buNone/>
                      </a:pPr>
                      <a:r>
                        <a:rPr/>
                        <a:t>3,070엔</a:t>
                      </a:r>
                    </a:p>
                  </a:txBody>
                </a:tc>
                <a:tc>
                  <a:txBody>
                    <a:bodyPr/>
                    <a:lstStyle/>
                    <a:p>
                      <a:pPr lvl="0" indent="0" marL="0" algn="l">
                        <a:buNone/>
                      </a:pPr>
                      <a:r>
                        <a:rPr/>
                        <a:t>신주쿠/도쿄, 지정석</a:t>
                      </a:r>
                    </a:p>
                  </a:txBody>
                </a:tc>
              </a:tr>
              <a:tr h="0">
                <a:tc>
                  <a:txBody>
                    <a:bodyPr/>
                    <a:lstStyle/>
                    <a:p>
                      <a:pPr lvl="0" indent="0" marL="0" algn="l">
                        <a:buNone/>
                      </a:pPr>
                      <a:r>
                        <a:rPr/>
                        <a:t>리무진 버스</a:t>
                      </a:r>
                    </a:p>
                  </a:txBody>
                </a:tc>
                <a:tc>
                  <a:txBody>
                    <a:bodyPr/>
                    <a:lstStyle/>
                    <a:p>
                      <a:pPr lvl="0" indent="0" marL="0" algn="l">
                        <a:buNone/>
                      </a:pPr>
                      <a:r>
                        <a:rPr/>
                        <a:t>70~100분</a:t>
                      </a:r>
                    </a:p>
                  </a:txBody>
                </a:tc>
                <a:tc>
                  <a:txBody>
                    <a:bodyPr/>
                    <a:lstStyle/>
                    <a:p>
                      <a:pPr lvl="0" indent="0" marL="0" algn="l">
                        <a:buNone/>
                      </a:pPr>
                      <a:r>
                        <a:rPr/>
                        <a:t>3,200엔</a:t>
                      </a:r>
                    </a:p>
                  </a:txBody>
                </a:tc>
                <a:tc>
                  <a:txBody>
                    <a:bodyPr/>
                    <a:lstStyle/>
                    <a:p>
                      <a:pPr lvl="0" indent="0" marL="0" algn="l">
                        <a:buNone/>
                      </a:pPr>
                      <a:r>
                        <a:rPr/>
                        <a:t>호텔 직행, 가족 단위</a:t>
                      </a:r>
                    </a:p>
                  </a:txBody>
                </a:tc>
              </a:tr>
              <a:tr h="0">
                <a:tc>
                  <a:txBody>
                    <a:bodyPr/>
                    <a:lstStyle/>
                    <a:p>
                      <a:pPr lvl="0" indent="0" marL="0" algn="l">
                        <a:buNone/>
                      </a:pPr>
                      <a:r>
                        <a:rPr/>
                        <a:t>저가 버스</a:t>
                      </a:r>
                    </a:p>
                  </a:txBody>
                </a:tc>
                <a:tc>
                  <a:txBody>
                    <a:bodyPr/>
                    <a:lstStyle/>
                    <a:p>
                      <a:pPr lvl="0" indent="0" marL="0" algn="l">
                        <a:buNone/>
                      </a:pPr>
                      <a:r>
                        <a:rPr/>
                        <a:t>70~100분</a:t>
                      </a:r>
                    </a:p>
                  </a:txBody>
                </a:tc>
                <a:tc>
                  <a:txBody>
                    <a:bodyPr/>
                    <a:lstStyle/>
                    <a:p>
                      <a:pPr lvl="0" indent="0" marL="0" algn="l">
                        <a:buNone/>
                      </a:pPr>
                      <a:r>
                        <a:rPr/>
                        <a:t>1,500엔</a:t>
                      </a:r>
                    </a:p>
                  </a:txBody>
                </a:tc>
                <a:tc>
                  <a:txBody>
                    <a:bodyPr/>
                    <a:lstStyle/>
                    <a:p>
                      <a:pPr lvl="0" indent="0" marL="0" algn="l">
                        <a:buNone/>
                      </a:pPr>
                      <a:r>
                        <a:rPr/>
                        <a:t>최고 가성비, 알뜰 여행</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나 홀로 여행 예산</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2박 3일 예상 경비 산출</a:t>
            </a:r>
          </a:p>
        </p:txBody>
      </p:sp>
      <p:sp>
        <p:nvSpPr>
          <p:cNvPr id="3" name="Content Placeholder 2"/>
          <p:cNvSpPr>
            <a:spLocks noGrp="1"/>
          </p:cNvSpPr>
          <p:nvPr>
            <p:ph idx="1"/>
          </p:nvPr>
        </p:nvSpPr>
        <p:spPr/>
        <p:txBody>
          <a:bodyPr/>
          <a:lstStyle/>
          <a:p>
            <a:pPr lvl="0"/>
            <a:r>
              <a:rPr/>
              <a:t>왕복 30~50만 원대의 저가 항공사 중심 항공권 확보와 시기별 특가 상품을 통한 고정비 절감 전략</a:t>
            </a:r>
          </a:p>
          <a:p>
            <a:pPr lvl="0"/>
            <a:r>
              <a:rPr/>
              <a:t>1박 기준 6~12만 원 내외의 비즈니스 호텔이나 캡슐 호텔을 활용한 합리적인 숙박비 운영 방안</a:t>
            </a:r>
          </a:p>
          <a:p>
            <a:pPr lvl="0"/>
            <a:r>
              <a:rPr/>
              <a:t>24시간 지하철 패스 구매를 통한 도심 내 무제한 이동과 IC 카드를 병용한 효율적 교통비 지출</a:t>
            </a:r>
          </a:p>
          <a:p>
            <a:pPr lvl="0"/>
            <a:r>
              <a:rPr/>
              <a:t>하루 10~12만 원 수준의 넉넉한 식비와 입장료 및 기념품 쇼핑을 포함한 총 60~90만 원의 예산</a:t>
            </a:r>
          </a:p>
          <a:p>
            <a:pPr lvl="0"/>
            <a:r>
              <a:rPr/>
              <a:t>현지 편의점 ATM인 세븐은행을 활용한 필요 수량만큼의 소액 인출로 불필요한 현금 소지 최소화</a:t>
            </a:r>
          </a:p>
          <a:p>
            <a:pPr lvl="0" indent="0" marL="0">
              <a:buNone/>
            </a:pPr>
            <a:r>
              <a:rPr/>
              <a:t>[혼자 떠나는 여행 경비 비중 인포그래픽] 항공권: ████████████ (약 45%) 숙박비: ████ (약 20%) 식비: ███ (약 15%) 기타: ███ (약 20%)</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최적의 숙소 위치</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지역별 특징과 장단점</a:t>
            </a:r>
          </a:p>
        </p:txBody>
      </p:sp>
      <p:sp>
        <p:nvSpPr>
          <p:cNvPr id="4" name="Text Placeholder 3"/>
          <p:cNvSpPr>
            <a:spLocks noGrp="1"/>
          </p:cNvSpPr>
          <p:nvPr>
            <p:ph idx="2" sz="half" type="body"/>
          </p:nvPr>
        </p:nvSpPr>
        <p:spPr/>
        <p:txBody>
          <a:bodyPr/>
          <a:lstStyle/>
          <a:p>
            <a:pPr lvl="0"/>
            <a:r>
              <a:rPr/>
              <a:t>대중교통의 중심지로서 근교 여행에 유리하며 밤늦게까지 운영하는 식당이 많은 도심 최대 번화가 신주쿠</a:t>
            </a:r>
          </a:p>
          <a:p>
            <a:pPr lvl="0"/>
            <a:r>
              <a:rPr/>
              <a:t>100년 전통 노포와 세련된 명품 거리가 공존하며 나리타 공항 접근성이 뛰어난 상류층 감성의 긴자</a:t>
            </a:r>
          </a:p>
          <a:p>
            <a:pPr lvl="0"/>
            <a:r>
              <a:rPr/>
              <a:t>저렴한 숙박 시설이 밀집해 있고 아메요코 시장 등 볼거리가 풍부하여 초보 여행자에게 적합한 우에노</a:t>
            </a:r>
          </a:p>
          <a:p>
            <a:pPr lvl="0"/>
            <a:r>
              <a:rPr/>
              <a:t>젊은 감각의 스트리트 패션 브랜드와 편집샵이 가득하며 도쿄의 현대적 에너지가 집중된 시부야 지역</a:t>
            </a:r>
          </a:p>
          <a:p>
            <a:pPr lvl="0"/>
            <a:r>
              <a:rPr/>
              <a:t>일본 전통미를 간직한 센소지 인근의 아사쿠사와 서브컬처 성지인 아키하바라 부근의 가성비 숙소들</a:t>
            </a:r>
          </a:p>
          <a:p>
            <a:pPr lvl="0" indent="0" marL="0">
              <a:buNone/>
            </a:pPr>
            <a:r>
              <a:rPr/>
              <a:t>[도쿄 주요 숙박 지역 추천 순위]</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순위</a:t>
                      </a:r>
                    </a:p>
                  </a:txBody>
                  <a:tcPr/>
                </a:tc>
                <a:tc>
                  <a:txBody>
                    <a:bodyPr/>
                    <a:lstStyle/>
                    <a:p>
                      <a:pPr lvl="0" indent="0" marL="0" algn="l">
                        <a:buNone/>
                      </a:pPr>
                      <a:r>
                        <a:rPr/>
                        <a:t>지역명</a:t>
                      </a:r>
                    </a:p>
                  </a:txBody>
                  <a:tcPr/>
                </a:tc>
                <a:tc>
                  <a:txBody>
                    <a:bodyPr/>
                    <a:lstStyle/>
                    <a:p>
                      <a:pPr lvl="0" indent="0" marL="0" algn="l">
                        <a:buNone/>
                      </a:pPr>
                      <a:r>
                        <a:rPr/>
                        <a:t>장점</a:t>
                      </a:r>
                    </a:p>
                  </a:txBody>
                  <a:tcPr/>
                </a:tc>
                <a:tc>
                  <a:txBody>
                    <a:bodyPr/>
                    <a:lstStyle/>
                    <a:p>
                      <a:pPr lvl="0" indent="0" marL="0" algn="l">
                        <a:buNone/>
                      </a:pPr>
                      <a:r>
                        <a:rPr/>
                        <a:t>추천 여행자</a:t>
                      </a:r>
                    </a:p>
                  </a:txBody>
                  <a:tcPr/>
                </a:tc>
              </a:tr>
              <a:tr h="0">
                <a:tc>
                  <a:txBody>
                    <a:bodyPr/>
                    <a:lstStyle/>
                    <a:p>
                      <a:pPr lvl="0" indent="0" marL="0" algn="l">
                        <a:buNone/>
                      </a:pPr>
                      <a:r>
                        <a:rPr/>
                        <a:t>1위</a:t>
                      </a:r>
                    </a:p>
                  </a:txBody>
                </a:tc>
                <a:tc>
                  <a:txBody>
                    <a:bodyPr/>
                    <a:lstStyle/>
                    <a:p>
                      <a:pPr lvl="0" indent="0" marL="0" algn="l">
                        <a:buNone/>
                      </a:pPr>
                      <a:r>
                        <a:rPr/>
                        <a:t>신주쿠</a:t>
                      </a:r>
                    </a:p>
                  </a:txBody>
                </a:tc>
                <a:tc>
                  <a:txBody>
                    <a:bodyPr/>
                    <a:lstStyle/>
                    <a:p>
                      <a:pPr lvl="0" indent="0" marL="0" algn="l">
                        <a:buNone/>
                      </a:pPr>
                      <a:r>
                        <a:rPr/>
                        <a:t>교통의 요지, 밤문화</a:t>
                      </a:r>
                    </a:p>
                  </a:txBody>
                </a:tc>
                <a:tc>
                  <a:txBody>
                    <a:bodyPr/>
                    <a:lstStyle/>
                    <a:p>
                      <a:pPr lvl="0" indent="0" marL="0" algn="l">
                        <a:buNone/>
                      </a:pPr>
                      <a:r>
                        <a:rPr/>
                        <a:t>근교 여행 선호자</a:t>
                      </a:r>
                    </a:p>
                  </a:txBody>
                </a:tc>
              </a:tr>
              <a:tr h="0">
                <a:tc>
                  <a:txBody>
                    <a:bodyPr/>
                    <a:lstStyle/>
                    <a:p>
                      <a:pPr lvl="0" indent="0" marL="0" algn="l">
                        <a:buNone/>
                      </a:pPr>
                      <a:r>
                        <a:rPr/>
                        <a:t>2위</a:t>
                      </a:r>
                    </a:p>
                  </a:txBody>
                </a:tc>
                <a:tc>
                  <a:txBody>
                    <a:bodyPr/>
                    <a:lstStyle/>
                    <a:p>
                      <a:pPr lvl="0" indent="0" marL="0" algn="l">
                        <a:buNone/>
                      </a:pPr>
                      <a:r>
                        <a:rPr/>
                        <a:t>도쿄/긴자</a:t>
                      </a:r>
                    </a:p>
                  </a:txBody>
                </a:tc>
                <a:tc>
                  <a:txBody>
                    <a:bodyPr/>
                    <a:lstStyle/>
                    <a:p>
                      <a:pPr lvl="0" indent="0" marL="0" algn="l">
                        <a:buNone/>
                      </a:pPr>
                      <a:r>
                        <a:rPr/>
                        <a:t>공항 인접, 쇼핑</a:t>
                      </a:r>
                    </a:p>
                  </a:txBody>
                </a:tc>
                <a:tc>
                  <a:txBody>
                    <a:bodyPr/>
                    <a:lstStyle/>
                    <a:p>
                      <a:pPr lvl="0" indent="0" marL="0" algn="l">
                        <a:buNone/>
                      </a:pPr>
                      <a:r>
                        <a:rPr/>
                        <a:t>럭셔리 휴가족</a:t>
                      </a:r>
                    </a:p>
                  </a:txBody>
                </a:tc>
              </a:tr>
              <a:tr h="0">
                <a:tc>
                  <a:txBody>
                    <a:bodyPr/>
                    <a:lstStyle/>
                    <a:p>
                      <a:pPr lvl="0" indent="0" marL="0" algn="l">
                        <a:buNone/>
                      </a:pPr>
                      <a:r>
                        <a:rPr/>
                        <a:t>3위</a:t>
                      </a:r>
                    </a:p>
                  </a:txBody>
                </a:tc>
                <a:tc>
                  <a:txBody>
                    <a:bodyPr/>
                    <a:lstStyle/>
                    <a:p>
                      <a:pPr lvl="0" indent="0" marL="0" algn="l">
                        <a:buNone/>
                      </a:pPr>
                      <a:r>
                        <a:rPr/>
                        <a:t>우에노/아사쿠사</a:t>
                      </a:r>
                    </a:p>
                  </a:txBody>
                </a:tc>
                <a:tc>
                  <a:txBody>
                    <a:bodyPr/>
                    <a:lstStyle/>
                    <a:p>
                      <a:pPr lvl="0" indent="0" marL="0" algn="l">
                        <a:buNone/>
                      </a:pPr>
                      <a:r>
                        <a:rPr/>
                        <a:t>저렴한 물가, 관광</a:t>
                      </a:r>
                    </a:p>
                  </a:txBody>
                </a:tc>
                <a:tc>
                  <a:txBody>
                    <a:bodyPr/>
                    <a:lstStyle/>
                    <a:p>
                      <a:pPr lvl="0" indent="0" marL="0" algn="l">
                        <a:buNone/>
                      </a:pPr>
                      <a:r>
                        <a:rPr/>
                        <a:t>초보 여행자</a:t>
                      </a:r>
                    </a:p>
                  </a:txBody>
                </a:tc>
              </a:tr>
              <a:tr h="0">
                <a:tc>
                  <a:txBody>
                    <a:bodyPr/>
                    <a:lstStyle/>
                    <a:p>
                      <a:pPr lvl="0" indent="0" marL="0" algn="l">
                        <a:buNone/>
                      </a:pPr>
                      <a:r>
                        <a:rPr/>
                        <a:t>4위</a:t>
                      </a:r>
                    </a:p>
                  </a:txBody>
                </a:tc>
                <a:tc>
                  <a:txBody>
                    <a:bodyPr/>
                    <a:lstStyle/>
                    <a:p>
                      <a:pPr lvl="0" indent="0" marL="0" algn="l">
                        <a:buNone/>
                      </a:pPr>
                      <a:r>
                        <a:rPr/>
                        <a:t>시부야</a:t>
                      </a:r>
                    </a:p>
                  </a:txBody>
                </a:tc>
                <a:tc>
                  <a:txBody>
                    <a:bodyPr/>
                    <a:lstStyle/>
                    <a:p>
                      <a:pPr lvl="0" indent="0" marL="0" algn="l">
                        <a:buNone/>
                      </a:pPr>
                      <a:r>
                        <a:rPr/>
                        <a:t>트렌디, 편집샵</a:t>
                      </a:r>
                    </a:p>
                  </a:txBody>
                </a:tc>
                <a:tc>
                  <a:txBody>
                    <a:bodyPr/>
                    <a:lstStyle/>
                    <a:p>
                      <a:pPr lvl="0" indent="0" marL="0" algn="l">
                        <a:buNone/>
                      </a:pPr>
                      <a:r>
                        <a:rPr/>
                        <a:t>힙한 감성 추구자</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1일차 추천 일정</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현대적 도심과 야경 투어</a:t>
            </a:r>
          </a:p>
        </p:txBody>
      </p:sp>
      <p:sp>
        <p:nvSpPr>
          <p:cNvPr id="3" name="Content Placeholder 2"/>
          <p:cNvSpPr>
            <a:spLocks noGrp="1"/>
          </p:cNvSpPr>
          <p:nvPr>
            <p:ph idx="1"/>
          </p:nvPr>
        </p:nvSpPr>
        <p:spPr/>
        <p:txBody>
          <a:bodyPr/>
          <a:lstStyle/>
          <a:p>
            <a:pPr lvl="0"/>
            <a:r>
              <a:rPr/>
              <a:t>나리타 또는 하네다 공항 도착 후 교통이 편리한 신주쿠 거점으로의 신속한 이동 및 호텔 체크인</a:t>
            </a:r>
          </a:p>
          <a:p>
            <a:pPr lvl="0"/>
            <a:r>
              <a:rPr/>
              <a:t>신주쿠의 랜드마크인 고양이 스크린과 모자이크 도오리 산책 및 유명 이자카야 거리 골든가이 방문</a:t>
            </a:r>
          </a:p>
          <a:p>
            <a:pPr lvl="0"/>
            <a:r>
              <a:rPr/>
              <a:t>만화와 게임 및 전자제품의 성지인 아키하바라를 방문하여 일본 특유의 서브컬처 문화 심층 탐방</a:t>
            </a:r>
          </a:p>
          <a:p>
            <a:pPr lvl="0"/>
            <a:r>
              <a:rPr/>
              <a:t>45층 높이에서 도쿄 시내의 화려한 야경을 공짜로 즐길 수 있는 가성비 만점의 도쿄도청 전망대 관람</a:t>
            </a:r>
          </a:p>
          <a:p>
            <a:pPr lvl="0"/>
            <a:r>
              <a:rPr/>
              <a:t>밤의 열기가 가득한 가부키초 거리 구경과 24시간 운영되는 유명 라멘 전문점에서의 든든한 야식</a:t>
            </a:r>
          </a:p>
          <a:p>
            <a:pPr lvl="0" indent="0" marL="0">
              <a:buNone/>
            </a:pPr>
            <a:r>
              <a:rPr/>
              <a:t>[1일차 이동 동선 사례] 공항 입국 -&gt; 신주쿠 숙소 체크인 -&gt; 아키하바라 관광 -&gt; 도쿄도청 야경 -&gt; 가부키초 마무리</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2일차 추천 일정</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전통과 트렌드의 조화</a:t>
            </a:r>
          </a:p>
        </p:txBody>
      </p:sp>
      <p:sp>
        <p:nvSpPr>
          <p:cNvPr id="3" name="Content Placeholder 2"/>
          <p:cNvSpPr>
            <a:spLocks noGrp="1"/>
          </p:cNvSpPr>
          <p:nvPr>
            <p:ph idx="1"/>
          </p:nvPr>
        </p:nvSpPr>
        <p:spPr/>
        <p:txBody>
          <a:bodyPr/>
          <a:lstStyle/>
          <a:p>
            <a:pPr lvl="0"/>
            <a:r>
              <a:rPr/>
              <a:t>도쿄에서 가장 오래된 절인 아사쿠사 센소지 방문과 나카미세 거리에서의 전통 간식인 닌교야키 시식</a:t>
            </a:r>
          </a:p>
          <a:p>
            <a:pPr lvl="0"/>
            <a:r>
              <a:rPr/>
              <a:t>634m 높이의 일본 최고 전망대인 도쿄 스카이트리에 올라 도심 파노라마 전경과 후지산의 원거리 감상</a:t>
            </a:r>
          </a:p>
          <a:p>
            <a:pPr lvl="0"/>
            <a:r>
              <a:rPr/>
              <a:t>하라주쿠역 인근의 울창한 숲속 메이지 신궁 산책과 다케시타 거리의 독특한 스트리트 패션 문화 체험</a:t>
            </a:r>
          </a:p>
          <a:p>
            <a:pPr lvl="0"/>
            <a:r>
              <a:rPr/>
              <a:t>세계에서 가장 붐비는 시부야 스크램블 교차로를 직접 건너보며 도쿄 특유의 활기찬 분위기 만끽</a:t>
            </a:r>
          </a:p>
          <a:p>
            <a:pPr lvl="0"/>
            <a:r>
              <a:rPr/>
              <a:t>오모테산도의 세련된 명품 거리 산책과 블루보틀 커피 등 트렌디한 카페에서의 여유로운 휴식 시간</a:t>
            </a:r>
          </a:p>
          <a:p>
            <a:pPr lvl="0" indent="0" marL="0">
              <a:buNone/>
            </a:pPr>
            <a:r>
              <a:rPr/>
              <a:t>[2일차 주요 스팟 요약] - 전통: 아사쿠사 센소지, 메이지 신궁 - 현대: 도쿄 스카이트리, 시부야 스카이 - 문화: 하라주쿠 다케시타 거리</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3일차 추천 일정</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여유로운 산책과 마무리</a:t>
            </a:r>
          </a:p>
        </p:txBody>
      </p:sp>
      <p:sp>
        <p:nvSpPr>
          <p:cNvPr id="3" name="Content Placeholder 2"/>
          <p:cNvSpPr>
            <a:spLocks noGrp="1"/>
          </p:cNvSpPr>
          <p:nvPr>
            <p:ph idx="1"/>
          </p:nvPr>
        </p:nvSpPr>
        <p:spPr/>
        <p:txBody>
          <a:bodyPr/>
          <a:lstStyle/>
          <a:p>
            <a:pPr lvl="0"/>
            <a:r>
              <a:rPr/>
              <a:t>인공 섬인 오다이바 해변공원에서 레인보우 브리지와 자유의 여신상을 배경으로 한 기념사진 촬영</a:t>
            </a:r>
          </a:p>
          <a:p>
            <a:pPr lvl="0"/>
            <a:r>
              <a:rPr/>
              <a:t>다이바시티 앞에 설치된 실물 크기의 유니콘 건담 동상을 관람하며 정교한 일본 기술력의 위용 확인</a:t>
            </a:r>
          </a:p>
          <a:p>
            <a:pPr lvl="0"/>
            <a:r>
              <a:rPr/>
              <a:t>도쿄역 주변이나 백화점 지하 식품관인 데파치카를 방문하여 가족 및 지인을 위한 기념품 쇼핑</a:t>
            </a:r>
          </a:p>
          <a:p>
            <a:pPr lvl="0"/>
            <a:r>
              <a:rPr/>
              <a:t>츠키지 외부 시장에서의 신선한 해산물 덮밥이나 초밥 식사로 여행의 마지막 미식 경험 완성</a:t>
            </a:r>
          </a:p>
          <a:p>
            <a:pPr lvl="0"/>
            <a:r>
              <a:rPr/>
              <a:t>비행기 출발 최소 3시간 전 공항 도착을 목표로 나리타 익스프레스나 리무진 버스를 이용한 차분한 이동</a:t>
            </a:r>
          </a:p>
          <a:p>
            <a:pPr lvl="0" indent="0" marL="0">
              <a:buNone/>
            </a:pPr>
            <a:r>
              <a:rPr/>
              <a:t>[3일차 쇼핑 및 이동 사례] 오다이바 산책 -&gt; 건담 관람 -&gt; 츠키지 시장 미식 -&gt; 긴자/도쿄역 쇼핑 -&gt; 공항 이동</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시부야 전망 명소</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시부야 스카이 관람 팁</a:t>
            </a:r>
          </a:p>
        </p:txBody>
      </p:sp>
      <p:sp>
        <p:nvSpPr>
          <p:cNvPr id="3" name="Content Placeholder 2"/>
          <p:cNvSpPr>
            <a:spLocks noGrp="1"/>
          </p:cNvSpPr>
          <p:nvPr>
            <p:ph idx="1"/>
          </p:nvPr>
        </p:nvSpPr>
        <p:spPr/>
        <p:txBody>
          <a:bodyPr/>
          <a:lstStyle/>
          <a:p>
            <a:pPr lvl="0"/>
            <a:r>
              <a:rPr/>
              <a:t>스크램블 스퀘어 최상층 야외 전망대에서 즐기는 도쿄 시내의 압도적인 360도 파노라마 야외 뷰</a:t>
            </a:r>
          </a:p>
          <a:p>
            <a:pPr lvl="0"/>
            <a:r>
              <a:rPr/>
              <a:t>파란 하늘을 감상하기 위한 오전 시간 입장과 노을부터 야경까지 모두 즐길 수 있는 일몰 시간대 선택</a:t>
            </a:r>
          </a:p>
          <a:p>
            <a:pPr lvl="0"/>
            <a:r>
              <a:rPr/>
              <a:t>한 달 전부터 매진되는 인기 시간대 예약을 위해 공홈이나 플랫폼의 예약 오픈 시점에 맞춘 광클릭 필수</a:t>
            </a:r>
          </a:p>
          <a:p>
            <a:pPr lvl="0"/>
            <a:r>
              <a:rPr/>
              <a:t>기상 악화 시 옥상 입장이 제한될 수 있으므로 티켓 카운터에서의 입장권 교환 가능 여부 사전 확인</a:t>
            </a:r>
          </a:p>
          <a:p>
            <a:pPr lvl="0"/>
            <a:r>
              <a:rPr/>
              <a:t>짐 보관을 위한 100엔 동전 준비와 휴대폰을 제외한 모든 물품의 락커 보관 규정 엄격 준수</a:t>
            </a:r>
          </a:p>
          <a:p>
            <a:pPr lvl="0" indent="0" marL="0">
              <a:buNone/>
            </a:pPr>
            <a:r>
              <a:rPr/>
              <a:t>[시부야 스카이 입장 전략] [일몰 1시간 전] -&gt; [입장 및 주경] -&gt; [노을 감상] -&gt; [야경 관람]</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새로운 랜드마크 탐방</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아자부다이 힐즈 가이드</a:t>
            </a:r>
          </a:p>
        </p:txBody>
      </p:sp>
      <p:sp>
        <p:nvSpPr>
          <p:cNvPr id="3" name="Content Placeholder 2"/>
          <p:cNvSpPr>
            <a:spLocks noGrp="1"/>
          </p:cNvSpPr>
          <p:nvPr>
            <p:ph idx="1"/>
          </p:nvPr>
        </p:nvSpPr>
        <p:spPr/>
        <p:txBody>
          <a:bodyPr/>
          <a:lstStyle/>
          <a:p>
            <a:pPr lvl="0"/>
            <a:r>
              <a:rPr/>
              <a:t>일본 최고 높이의 빌딩과 약 2만 4천 제곱미터의 광활한 녹지가 어우러진 현대적 복합 문화 공간</a:t>
            </a:r>
          </a:p>
          <a:p>
            <a:pPr lvl="0"/>
            <a:r>
              <a:rPr/>
              <a:t>거대 미로 같은 지하 구조 속에서 즐기는 글로벌 스페셜티 커피 아라비카와 함바그 스테이크 맛집 탐방</a:t>
            </a:r>
          </a:p>
          <a:p>
            <a:pPr lvl="0"/>
            <a:r>
              <a:rPr/>
              <a:t>디지털 아트를 통해 빛과 예술의 우주를 구현한 팀랩 보더리스에서의 환상적인 전시 관람 및 촬영</a:t>
            </a:r>
          </a:p>
          <a:p>
            <a:pPr lvl="0"/>
            <a:r>
              <a:rPr/>
              <a:t>33층 전망대에서 정면으로 보이는 도쿄 타워의 위용 감상과 세련된 야외 문화 경관의 도심 산책</a:t>
            </a:r>
          </a:p>
          <a:p>
            <a:pPr lvl="0"/>
            <a:r>
              <a:rPr/>
              <a:t>크리스마스 시즌의 화려한 일루미네이션과 계절별 테마로 변하는 아자부다이 힐즈의 감성 스팟들</a:t>
            </a:r>
          </a:p>
          <a:p>
            <a:pPr lvl="0" indent="0" marL="0">
              <a:buNone/>
            </a:pPr>
            <a:r>
              <a:rPr/>
              <a:t>[아자부다이 힐즈 주요 시설] - 문화: 팀랩 보더리스 (디지털 아트) - 전망: 33층 스카이 로비 (도쿄 타워 뷰) - 미식: 라임라이트 (함바그), 에쉬레 (버터 전문점)</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드럭스토어 필수템</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2025년 쇼핑 리스트 TOP 10</a:t>
            </a:r>
          </a:p>
        </p:txBody>
      </p:sp>
      <p:sp>
        <p:nvSpPr>
          <p:cNvPr id="4" name="Text Placeholder 3"/>
          <p:cNvSpPr>
            <a:spLocks noGrp="1"/>
          </p:cNvSpPr>
          <p:nvPr>
            <p:ph idx="2" sz="half" type="body"/>
          </p:nvPr>
        </p:nvSpPr>
        <p:spPr/>
        <p:txBody>
          <a:bodyPr/>
          <a:lstStyle/>
          <a:p>
            <a:pPr lvl="0"/>
            <a:r>
              <a:rPr/>
              <a:t>성인 여드름의 염증 진정과 손상 조직 회복을 돕는 7년 만에 리뉴얼된 아크네스 25 메디컬 크림</a:t>
            </a:r>
          </a:p>
          <a:p>
            <a:pPr lvl="0"/>
            <a:r>
              <a:rPr/>
              <a:t>무더운 여름철 두피의 가려움과 비듬을 소염 성분 최대 함유로 해결해주는 메디퀵 H 골드 액상</a:t>
            </a:r>
          </a:p>
          <a:p>
            <a:pPr lvl="0"/>
            <a:r>
              <a:rPr/>
              <a:t>한국에서 보기 힘든 젤 타입으로 손발톱 깊숙이 침투하여 균을 잡는 엑시브 W 사이 케어젤</a:t>
            </a:r>
          </a:p>
          <a:p>
            <a:pPr lvl="0"/>
            <a:r>
              <a:rPr/>
              <a:t>6가지 유효 성분을 최대 농도로 배합하여 눈의 피로를 즉각적으로 개선하는 로토 골드 40 안약</a:t>
            </a:r>
          </a:p>
          <a:p>
            <a:pPr lvl="0"/>
            <a:r>
              <a:rPr/>
              <a:t>수용성과 지용성 얼룩을 모두 제거하며 휴대성이 뛰어나 여행 중 필수인 LION 시미토리 레스큐</a:t>
            </a:r>
          </a:p>
          <a:p>
            <a:pPr lvl="0" indent="0" marL="0">
              <a:buNone/>
            </a:pPr>
            <a:r>
              <a:rPr/>
              <a:t>[드럭스토어 쇼핑 품목 및 가격대]</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제품명</a:t>
                      </a:r>
                    </a:p>
                  </a:txBody>
                  <a:tcPr/>
                </a:tc>
                <a:tc>
                  <a:txBody>
                    <a:bodyPr/>
                    <a:lstStyle/>
                    <a:p>
                      <a:pPr lvl="0" indent="0" marL="0" algn="l">
                        <a:buNone/>
                      </a:pPr>
                      <a:r>
                        <a:rPr/>
                        <a:t>카테고리</a:t>
                      </a:r>
                    </a:p>
                  </a:txBody>
                  <a:tcPr/>
                </a:tc>
                <a:tc>
                  <a:txBody>
                    <a:bodyPr/>
                    <a:lstStyle/>
                    <a:p>
                      <a:pPr lvl="0" indent="0" marL="0" algn="l">
                        <a:buNone/>
                      </a:pPr>
                      <a:r>
                        <a:rPr/>
                        <a:t>특징</a:t>
                      </a:r>
                    </a:p>
                  </a:txBody>
                  <a:tcPr/>
                </a:tc>
                <a:tc>
                  <a:txBody>
                    <a:bodyPr/>
                    <a:lstStyle/>
                    <a:p>
                      <a:pPr lvl="0" indent="0" marL="0" algn="l">
                        <a:buNone/>
                      </a:pPr>
                      <a:r>
                        <a:rPr/>
                        <a:t>가격대(엔)</a:t>
                      </a:r>
                    </a:p>
                  </a:txBody>
                  <a:tcPr/>
                </a:tc>
              </a:tr>
              <a:tr h="0">
                <a:tc>
                  <a:txBody>
                    <a:bodyPr/>
                    <a:lstStyle/>
                    <a:p>
                      <a:pPr lvl="0" indent="0" marL="0" algn="l">
                        <a:buNone/>
                      </a:pPr>
                      <a:r>
                        <a:rPr/>
                        <a:t>아크네스 25</a:t>
                      </a:r>
                    </a:p>
                  </a:txBody>
                </a:tc>
                <a:tc>
                  <a:txBody>
                    <a:bodyPr/>
                    <a:lstStyle/>
                    <a:p>
                      <a:pPr lvl="0" indent="0" marL="0" algn="l">
                        <a:buNone/>
                      </a:pPr>
                      <a:r>
                        <a:rPr/>
                        <a:t>의약품</a:t>
                      </a:r>
                    </a:p>
                  </a:txBody>
                </a:tc>
                <a:tc>
                  <a:txBody>
                    <a:bodyPr/>
                    <a:lstStyle/>
                    <a:p>
                      <a:pPr lvl="0" indent="0" marL="0" algn="l">
                        <a:buNone/>
                      </a:pPr>
                      <a:r>
                        <a:rPr/>
                        <a:t>성인 여드름 전용</a:t>
                      </a:r>
                    </a:p>
                  </a:txBody>
                </a:tc>
                <a:tc>
                  <a:txBody>
                    <a:bodyPr/>
                    <a:lstStyle/>
                    <a:p>
                      <a:pPr lvl="0" indent="0" marL="0" algn="l">
                        <a:buNone/>
                      </a:pPr>
                      <a:r>
                        <a:rPr/>
                        <a:t>1,000 ~ 2,000</a:t>
                      </a:r>
                    </a:p>
                  </a:txBody>
                </a:tc>
              </a:tr>
              <a:tr h="0">
                <a:tc>
                  <a:txBody>
                    <a:bodyPr/>
                    <a:lstStyle/>
                    <a:p>
                      <a:pPr lvl="0" indent="0" marL="0" algn="l">
                        <a:buNone/>
                      </a:pPr>
                      <a:r>
                        <a:rPr/>
                        <a:t>로토 골드 40</a:t>
                      </a:r>
                    </a:p>
                  </a:txBody>
                </a:tc>
                <a:tc>
                  <a:txBody>
                    <a:bodyPr/>
                    <a:lstStyle/>
                    <a:p>
                      <a:pPr lvl="0" indent="0" marL="0" algn="l">
                        <a:buNone/>
                      </a:pPr>
                      <a:r>
                        <a:rPr/>
                        <a:t>안약</a:t>
                      </a:r>
                    </a:p>
                  </a:txBody>
                </a:tc>
                <a:tc>
                  <a:txBody>
                    <a:bodyPr/>
                    <a:lstStyle/>
                    <a:p>
                      <a:pPr lvl="0" indent="0" marL="0" algn="l">
                        <a:buNone/>
                      </a:pPr>
                      <a:r>
                        <a:rPr/>
                        <a:t>침침함/피로 개선</a:t>
                      </a:r>
                    </a:p>
                  </a:txBody>
                </a:tc>
                <a:tc>
                  <a:txBody>
                    <a:bodyPr/>
                    <a:lstStyle/>
                    <a:p>
                      <a:pPr lvl="0" indent="0" marL="0" algn="l">
                        <a:buNone/>
                      </a:pPr>
                      <a:r>
                        <a:rPr/>
                        <a:t>500 ~ 1,000</a:t>
                      </a:r>
                    </a:p>
                  </a:txBody>
                </a:tc>
              </a:tr>
              <a:tr h="0">
                <a:tc>
                  <a:txBody>
                    <a:bodyPr/>
                    <a:lstStyle/>
                    <a:p>
                      <a:pPr lvl="0" indent="0" marL="0" algn="l">
                        <a:buNone/>
                      </a:pPr>
                      <a:r>
                        <a:rPr/>
                        <a:t>메라노 CC</a:t>
                      </a:r>
                    </a:p>
                  </a:txBody>
                </a:tc>
                <a:tc>
                  <a:txBody>
                    <a:bodyPr/>
                    <a:lstStyle/>
                    <a:p>
                      <a:pPr lvl="0" indent="0" marL="0" algn="l">
                        <a:buNone/>
                      </a:pPr>
                      <a:r>
                        <a:rPr/>
                        <a:t>세안제</a:t>
                      </a:r>
                    </a:p>
                  </a:txBody>
                </a:tc>
                <a:tc>
                  <a:txBody>
                    <a:bodyPr/>
                    <a:lstStyle/>
                    <a:p>
                      <a:pPr lvl="0" indent="0" marL="0" algn="l">
                        <a:buNone/>
                      </a:pPr>
                      <a:r>
                        <a:rPr/>
                        <a:t>모공 관리/비타민C</a:t>
                      </a:r>
                    </a:p>
                  </a:txBody>
                </a:tc>
                <a:tc>
                  <a:txBody>
                    <a:bodyPr/>
                    <a:lstStyle/>
                    <a:p>
                      <a:pPr lvl="0" indent="0" marL="0" algn="l">
                        <a:buNone/>
                      </a:pPr>
                      <a:r>
                        <a:rPr/>
                        <a:t>800 ~ 1,500</a:t>
                      </a:r>
                    </a:p>
                  </a:txBody>
                </a:tc>
              </a:tr>
              <a:tr h="0">
                <a:tc>
                  <a:txBody>
                    <a:bodyPr/>
                    <a:lstStyle/>
                    <a:p>
                      <a:pPr lvl="0" indent="0" marL="0" algn="l">
                        <a:buNone/>
                      </a:pPr>
                      <a:r>
                        <a:rPr/>
                        <a:t>휴족시간</a:t>
                      </a:r>
                    </a:p>
                  </a:txBody>
                </a:tc>
                <a:tc>
                  <a:txBody>
                    <a:bodyPr/>
                    <a:lstStyle/>
                    <a:p>
                      <a:pPr lvl="0" indent="0" marL="0" algn="l">
                        <a:buNone/>
                      </a:pPr>
                      <a:r>
                        <a:rPr/>
                        <a:t>생활용품</a:t>
                      </a:r>
                    </a:p>
                  </a:txBody>
                </a:tc>
                <a:tc>
                  <a:txBody>
                    <a:bodyPr/>
                    <a:lstStyle/>
                    <a:p>
                      <a:pPr lvl="0" indent="0" marL="0" algn="l">
                        <a:buNone/>
                      </a:pPr>
                      <a:r>
                        <a:rPr/>
                        <a:t>발의 피로 회복</a:t>
                      </a:r>
                    </a:p>
                  </a:txBody>
                </a:tc>
                <a:tc>
                  <a:txBody>
                    <a:bodyPr/>
                    <a:lstStyle/>
                    <a:p>
                      <a:pPr lvl="0" indent="0" marL="0" algn="l">
                        <a:buNone/>
                      </a:pPr>
                      <a:r>
                        <a:rPr/>
                        <a:t>500 ~ 1,500</a:t>
                      </a:r>
                    </a:p>
                  </a:txBody>
                </a:tc>
              </a:tr>
              <a:tr h="0">
                <a:tc>
                  <a:txBody>
                    <a:bodyPr/>
                    <a:lstStyle/>
                    <a:p>
                      <a:pPr lvl="0" indent="0" marL="0" algn="l">
                        <a:buNone/>
                      </a:pPr>
                      <a:r>
                        <a:rPr/>
                        <a:t>런드린 미스트</a:t>
                      </a:r>
                    </a:p>
                  </a:txBody>
                </a:tc>
                <a:tc>
                  <a:txBody>
                    <a:bodyPr/>
                    <a:lstStyle/>
                    <a:p>
                      <a:pPr lvl="0" indent="0" marL="0" algn="l">
                        <a:buNone/>
                      </a:pPr>
                      <a:r>
                        <a:rPr/>
                        <a:t>잡화</a:t>
                      </a:r>
                    </a:p>
                  </a:txBody>
                </a:tc>
                <a:tc>
                  <a:txBody>
                    <a:bodyPr/>
                    <a:lstStyle/>
                    <a:p>
                      <a:pPr lvl="0" indent="0" marL="0" algn="l">
                        <a:buNone/>
                      </a:pPr>
                      <a:r>
                        <a:rPr/>
                        <a:t>의류/룸 스프레이</a:t>
                      </a:r>
                    </a:p>
                  </a:txBody>
                </a:tc>
                <a:tc>
                  <a:txBody>
                    <a:bodyPr/>
                    <a:lstStyle/>
                    <a:p>
                      <a:pPr lvl="0" indent="0" marL="0" algn="l">
                        <a:buNone/>
                      </a:pPr>
                      <a:r>
                        <a:rPr/>
                        <a:t>600 ~ 1,200</a:t>
                      </a:r>
                    </a:p>
                  </a:txBody>
                </a:tc>
              </a:tr>
            </a:tbl>
          </a:graphicData>
        </a:graphic>
      </p:graphicFrame>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긴자 쇼핑 가이드</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백화점 및 플래그십 매장</a:t>
            </a:r>
          </a:p>
        </p:txBody>
      </p:sp>
      <p:sp>
        <p:nvSpPr>
          <p:cNvPr id="3" name="Content Placeholder 2"/>
          <p:cNvSpPr>
            <a:spLocks noGrp="1"/>
          </p:cNvSpPr>
          <p:nvPr>
            <p:ph idx="1"/>
          </p:nvPr>
        </p:nvSpPr>
        <p:spPr/>
        <p:txBody>
          <a:bodyPr/>
          <a:lstStyle/>
          <a:p>
            <a:pPr lvl="0"/>
            <a:r>
              <a:rPr/>
              <a:t>1930년에 창업한 프리미엄 백화점으로 명품관과 공항형 시티 면세점을 동시에 운영하는 긴자 미쓰코시</a:t>
            </a:r>
          </a:p>
          <a:p>
            <a:pPr lvl="0"/>
            <a:r>
              <a:rPr/>
              <a:t>100년 역사의 보석과 의류 강점 백화점으로 지하 식품 코너의 디저트 라인업이 화려한 마쓰야 긴자</a:t>
            </a:r>
          </a:p>
          <a:p>
            <a:pPr lvl="0"/>
            <a:r>
              <a:rPr/>
              <a:t>세계 최대 규모의 12층 건물에서 나만의 자수 서비스를 제공하는 유니클로 긴자 플래그십 스토어</a:t>
            </a:r>
          </a:p>
          <a:p>
            <a:pPr lvl="0"/>
            <a:r>
              <a:rPr/>
              <a:t>츠타야 서점과 블루보틀이 입점한 세련된 감성의 현대적 쇼핑몰로 면세 혜택이 편리한 GINZA SIX</a:t>
            </a:r>
          </a:p>
          <a:p>
            <a:pPr lvl="0"/>
            <a:r>
              <a:rPr/>
              <a:t>호텔과 식당을 갖춘 일본 최대 규모의 무인양품 긴자와 100년 전통의 고급 문구 전문점 이토야</a:t>
            </a:r>
          </a:p>
          <a:p>
            <a:pPr lvl="0" indent="0" marL="0">
              <a:buNone/>
            </a:pPr>
            <a:r>
              <a:rPr/>
              <a:t>[긴자 쇼핑 루트 사례] 긴자역 출발 -&gt; 미쓰코시 백화점 -&gt; GINZA SIX -&gt; 유니클로/무인양품 -&gt; 이토야 마무리</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문구 덕후의 성지</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대표 문구점 비교 분석</a:t>
            </a:r>
          </a:p>
        </p:txBody>
      </p:sp>
      <p:sp>
        <p:nvSpPr>
          <p:cNvPr id="4" name="Text Placeholder 3"/>
          <p:cNvSpPr>
            <a:spLocks noGrp="1"/>
          </p:cNvSpPr>
          <p:nvPr>
            <p:ph idx="2" sz="half" type="body"/>
          </p:nvPr>
        </p:nvSpPr>
        <p:spPr/>
        <p:txBody>
          <a:bodyPr/>
          <a:lstStyle/>
          <a:p>
            <a:pPr lvl="0"/>
            <a:r>
              <a:rPr/>
              <a:t>12층 건물 전체가 문구류로 가득하며 예술적인 디자인 제품을 만날 수 있는 긴자의 랜드마크 이토야</a:t>
            </a:r>
          </a:p>
          <a:p>
            <a:pPr lvl="0"/>
            <a:r>
              <a:rPr/>
              <a:t>미술용품과 그림 도구 전문 도매점으로 일반 매장보다 20% 저렴한 가격에 득템 가능한 신주쿠 세카이도</a:t>
            </a:r>
          </a:p>
          <a:p>
            <a:pPr lvl="0"/>
            <a:r>
              <a:rPr/>
              <a:t>없는 게 없는 DIY와 잡화의 천국으로 8층 규모의 화려한 라인업을 자랑하는 시부야 도큐핸즈</a:t>
            </a:r>
          </a:p>
          <a:p>
            <a:pPr lvl="0"/>
            <a:r>
              <a:rPr/>
              <a:t>최근 트렌드인 굿즈와 실용적인 생활 잡화가 풍부하며 긴자점의 한산함과 시부야점의 북적임이 대비됨</a:t>
            </a:r>
          </a:p>
          <a:p>
            <a:pPr lvl="0"/>
            <a:r>
              <a:rPr/>
              <a:t>종이와 링 및 표지를 직접 골라 30분 만에 제작하는 세상에 하나뿐인 나만의 노트 전문점 카키모리</a:t>
            </a:r>
          </a:p>
          <a:p>
            <a:pPr lvl="0" indent="0" marL="0">
              <a:buNone/>
            </a:pPr>
            <a:r>
              <a:rPr/>
              <a:t>[도쿄 주요 문구점 특징 지표]</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매장명</a:t>
                      </a:r>
                    </a:p>
                  </a:txBody>
                  <a:tcPr/>
                </a:tc>
                <a:tc>
                  <a:txBody>
                    <a:bodyPr/>
                    <a:lstStyle/>
                    <a:p>
                      <a:pPr lvl="0" indent="0" marL="0" algn="l">
                        <a:buNone/>
                      </a:pPr>
                      <a:r>
                        <a:rPr/>
                        <a:t>위치</a:t>
                      </a:r>
                    </a:p>
                  </a:txBody>
                  <a:tcPr/>
                </a:tc>
                <a:tc>
                  <a:txBody>
                    <a:bodyPr/>
                    <a:lstStyle/>
                    <a:p>
                      <a:pPr lvl="0" indent="0" marL="0" algn="l">
                        <a:buNone/>
                      </a:pPr>
                      <a:r>
                        <a:rPr/>
                        <a:t>주력 상품</a:t>
                      </a:r>
                    </a:p>
                  </a:txBody>
                  <a:tcPr/>
                </a:tc>
                <a:tc>
                  <a:txBody>
                    <a:bodyPr/>
                    <a:lstStyle/>
                    <a:p>
                      <a:pPr lvl="0" indent="0" marL="0" algn="l">
                        <a:buNone/>
                      </a:pPr>
                      <a:r>
                        <a:rPr/>
                        <a:t>장점</a:t>
                      </a:r>
                    </a:p>
                  </a:txBody>
                  <a:tcPr/>
                </a:tc>
              </a:tr>
              <a:tr h="0">
                <a:tc>
                  <a:txBody>
                    <a:bodyPr/>
                    <a:lstStyle/>
                    <a:p>
                      <a:pPr lvl="0" indent="0" marL="0" algn="l">
                        <a:buNone/>
                      </a:pPr>
                      <a:r>
                        <a:rPr/>
                        <a:t>이토야</a:t>
                      </a:r>
                    </a:p>
                  </a:txBody>
                </a:tc>
                <a:tc>
                  <a:txBody>
                    <a:bodyPr/>
                    <a:lstStyle/>
                    <a:p>
                      <a:pPr lvl="0" indent="0" marL="0" algn="l">
                        <a:buNone/>
                      </a:pPr>
                      <a:r>
                        <a:rPr/>
                        <a:t>긴자</a:t>
                      </a:r>
                    </a:p>
                  </a:txBody>
                </a:tc>
                <a:tc>
                  <a:txBody>
                    <a:bodyPr/>
                    <a:lstStyle/>
                    <a:p>
                      <a:pPr lvl="0" indent="0" marL="0" algn="l">
                        <a:buNone/>
                      </a:pPr>
                      <a:r>
                        <a:rPr/>
                        <a:t>고급 문구, 디자인</a:t>
                      </a:r>
                    </a:p>
                  </a:txBody>
                </a:tc>
                <a:tc>
                  <a:txBody>
                    <a:bodyPr/>
                    <a:lstStyle/>
                    <a:p>
                      <a:pPr lvl="0" indent="0" marL="0" algn="l">
                        <a:buNone/>
                      </a:pPr>
                      <a:r>
                        <a:rPr/>
                        <a:t>압도적 규모</a:t>
                      </a:r>
                    </a:p>
                  </a:txBody>
                </a:tc>
              </a:tr>
              <a:tr h="0">
                <a:tc>
                  <a:txBody>
                    <a:bodyPr/>
                    <a:lstStyle/>
                    <a:p>
                      <a:pPr lvl="0" indent="0" marL="0" algn="l">
                        <a:buNone/>
                      </a:pPr>
                      <a:r>
                        <a:rPr/>
                        <a:t>세카이도</a:t>
                      </a:r>
                    </a:p>
                  </a:txBody>
                </a:tc>
                <a:tc>
                  <a:txBody>
                    <a:bodyPr/>
                    <a:lstStyle/>
                    <a:p>
                      <a:pPr lvl="0" indent="0" marL="0" algn="l">
                        <a:buNone/>
                      </a:pPr>
                      <a:r>
                        <a:rPr/>
                        <a:t>신주쿠</a:t>
                      </a:r>
                    </a:p>
                  </a:txBody>
                </a:tc>
                <a:tc>
                  <a:txBody>
                    <a:bodyPr/>
                    <a:lstStyle/>
                    <a:p>
                      <a:pPr lvl="0" indent="0" marL="0" algn="l">
                        <a:buNone/>
                      </a:pPr>
                      <a:r>
                        <a:rPr/>
                        <a:t>미술용품, 화구</a:t>
                      </a:r>
                    </a:p>
                  </a:txBody>
                </a:tc>
                <a:tc>
                  <a:txBody>
                    <a:bodyPr/>
                    <a:lstStyle/>
                    <a:p>
                      <a:pPr lvl="0" indent="0" marL="0" algn="l">
                        <a:buNone/>
                      </a:pPr>
                      <a:r>
                        <a:rPr/>
                        <a:t>도매가 할인</a:t>
                      </a:r>
                    </a:p>
                  </a:txBody>
                </a:tc>
              </a:tr>
              <a:tr h="0">
                <a:tc>
                  <a:txBody>
                    <a:bodyPr/>
                    <a:lstStyle/>
                    <a:p>
                      <a:pPr lvl="0" indent="0" marL="0" algn="l">
                        <a:buNone/>
                      </a:pPr>
                      <a:r>
                        <a:rPr/>
                        <a:t>카키모리</a:t>
                      </a:r>
                    </a:p>
                  </a:txBody>
                </a:tc>
                <a:tc>
                  <a:txBody>
                    <a:bodyPr/>
                    <a:lstStyle/>
                    <a:p>
                      <a:pPr lvl="0" indent="0" marL="0" algn="l">
                        <a:buNone/>
                      </a:pPr>
                      <a:r>
                        <a:rPr/>
                        <a:t>쿠리마에</a:t>
                      </a:r>
                    </a:p>
                  </a:txBody>
                </a:tc>
                <a:tc>
                  <a:txBody>
                    <a:bodyPr/>
                    <a:lstStyle/>
                    <a:p>
                      <a:pPr lvl="0" indent="0" marL="0" algn="l">
                        <a:buNone/>
                      </a:pPr>
                      <a:r>
                        <a:rPr/>
                        <a:t>맞춤 제작 노트</a:t>
                      </a:r>
                    </a:p>
                  </a:txBody>
                </a:tc>
                <a:tc>
                  <a:txBody>
                    <a:bodyPr/>
                    <a:lstStyle/>
                    <a:p>
                      <a:pPr lvl="0" indent="0" marL="0" algn="l">
                        <a:buNone/>
                      </a:pPr>
                      <a:r>
                        <a:rPr/>
                        <a:t>희소성 가치</a:t>
                      </a:r>
                    </a:p>
                  </a:txBody>
                </a:tc>
              </a:tr>
              <a:tr h="0">
                <a:tc>
                  <a:txBody>
                    <a:bodyPr/>
                    <a:lstStyle/>
                    <a:p>
                      <a:pPr lvl="0" indent="0" marL="0" algn="l">
                        <a:buNone/>
                      </a:pPr>
                      <a:r>
                        <a:rPr/>
                        <a:t>도큐핸즈</a:t>
                      </a:r>
                    </a:p>
                  </a:txBody>
                </a:tc>
                <a:tc>
                  <a:txBody>
                    <a:bodyPr/>
                    <a:lstStyle/>
                    <a:p>
                      <a:pPr lvl="0" indent="0" marL="0" algn="l">
                        <a:buNone/>
                      </a:pPr>
                      <a:r>
                        <a:rPr/>
                        <a:t>시부야</a:t>
                      </a:r>
                    </a:p>
                  </a:txBody>
                </a:tc>
                <a:tc>
                  <a:txBody>
                    <a:bodyPr/>
                    <a:lstStyle/>
                    <a:p>
                      <a:pPr lvl="0" indent="0" marL="0" algn="l">
                        <a:buNone/>
                      </a:pPr>
                      <a:r>
                        <a:rPr/>
                        <a:t>DIY, 생활 잡화</a:t>
                      </a:r>
                    </a:p>
                  </a:txBody>
                </a:tc>
                <a:tc>
                  <a:txBody>
                    <a:bodyPr/>
                    <a:lstStyle/>
                    <a:p>
                      <a:pPr lvl="0" indent="0" marL="0" algn="l">
                        <a:buNone/>
                      </a:pPr>
                      <a:r>
                        <a:rPr/>
                        <a:t>아이디어 상품</a:t>
                      </a:r>
                    </a:p>
                  </a:txBody>
                </a:tc>
              </a:tr>
            </a:tbl>
          </a:graphicData>
        </a:graphic>
      </p:graphicFrame>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애니메이션 성지 순례</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아키하바라와 이케부쿠로</a:t>
            </a:r>
          </a:p>
        </p:txBody>
      </p:sp>
      <p:sp>
        <p:nvSpPr>
          <p:cNvPr id="3" name="Content Placeholder 2"/>
          <p:cNvSpPr>
            <a:spLocks noGrp="1"/>
          </p:cNvSpPr>
          <p:nvPr>
            <p:ph idx="1"/>
          </p:nvPr>
        </p:nvSpPr>
        <p:spPr/>
        <p:txBody>
          <a:bodyPr/>
          <a:lstStyle/>
          <a:p>
            <a:pPr lvl="0"/>
            <a:r>
              <a:rPr/>
              <a:t>신작 피규어와 하비 숍이 층별로 입점해 있어 에스컬레이터를 탈 때마다 보물찾기 기분을 주는 라디오회관</a:t>
            </a:r>
          </a:p>
          <a:p>
            <a:pPr lvl="0"/>
            <a:r>
              <a:rPr/>
              <a:t>중고 애니메이션 셀화와 피규어 및 복고풍 비디오 게임을 당시 포장 상태 그대로 만날 수 있는 만다라케</a:t>
            </a:r>
          </a:p>
          <a:p>
            <a:pPr lvl="0"/>
            <a:r>
              <a:rPr/>
              <a:t>작품별로 깔끔하게 정돈된 방대한 만화와 라이트 노벨 컬렉션을 영어 라벨과 함께 제공하는 아니메이트</a:t>
            </a:r>
          </a:p>
          <a:p>
            <a:pPr lvl="0"/>
            <a:r>
              <a:rPr/>
              <a:t>전설의 포켓몬 미라이돈이 입구에서 맞이하며 세계 최초 포켓몬 GO 랩을 운영하는 포켓몬센터 MEGA</a:t>
            </a:r>
          </a:p>
          <a:p>
            <a:pPr lvl="0"/>
            <a:r>
              <a:rPr/>
              <a:t>샹크스가 루피에게 모자를 건네는 명장면을 재현한 포토존과 하라주쿠 한정 시리즈가 있는 원피스 샵</a:t>
            </a:r>
          </a:p>
          <a:p>
            <a:pPr lvl="0" indent="0" marL="0">
              <a:buNone/>
            </a:pPr>
            <a:r>
              <a:rPr/>
              <a:t>[오타쿠 문화 타겟 분석] - 아키하바라: ██████████ (남성향, 피규어, 중고 게임 중심) - 이케부쿠로: ██████ (여성향, 굿즈, 코스프레 중심)</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인테리어 소품샵</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감성 리빙 아이템 탐방</a:t>
            </a:r>
          </a:p>
        </p:txBody>
      </p:sp>
      <p:sp>
        <p:nvSpPr>
          <p:cNvPr id="3" name="Content Placeholder 2"/>
          <p:cNvSpPr>
            <a:spLocks noGrp="1"/>
          </p:cNvSpPr>
          <p:nvPr>
            <p:ph idx="1"/>
          </p:nvPr>
        </p:nvSpPr>
        <p:spPr/>
        <p:txBody>
          <a:bodyPr/>
          <a:lstStyle/>
          <a:p>
            <a:pPr lvl="0"/>
            <a:r>
              <a:rPr/>
              <a:t>심플하고 오래 쓸 수 있는 생활용품과 조리도구 및 자체 제작 컵을 만날 수 있는 요요기 공원 인근 러스트앤파운드</a:t>
            </a:r>
          </a:p>
          <a:p>
            <a:pPr lvl="0"/>
            <a:r>
              <a:rPr/>
              <a:t>정갈한 공예 작품 같은 도자기 식기와 따뜻한 감성의 접시를 합리적 가격에 제공하는 유미코 이이호시 포슬린</a:t>
            </a:r>
          </a:p>
          <a:p>
            <a:pPr lvl="0"/>
            <a:r>
              <a:rPr/>
              <a:t>긴자의 화려함 속에서 시간을 멈춘 듯한 조용한 분위기로 수공예품과 빈티지 소품을 선보이는 큐코</a:t>
            </a:r>
          </a:p>
          <a:p>
            <a:pPr lvl="0"/>
            <a:r>
              <a:rPr/>
              <a:t>미국 빈티지 감성의 인더스트리얼 모드가 섞인 투박하고 멋스러운 생활 잡화와 도어 사인을 취급하는 덜튼</a:t>
            </a:r>
          </a:p>
          <a:p>
            <a:pPr lvl="0"/>
            <a:r>
              <a:rPr/>
              <a:t>가구부터 향과 키친웨어까지 라이프스타일 전반을 다루며 특히 화이트티 인센스 스틱이 인기인 스탠다드 퍼니처</a:t>
            </a:r>
          </a:p>
          <a:p>
            <a:pPr lvl="0" indent="0" marL="0">
              <a:buNone/>
            </a:pPr>
            <a:r>
              <a:rPr/>
              <a:t>[11곳 감성 소품샵 투어 사례] 시부야 파르코(푸브코) -&gt; 토미가야(디시스) -&gt; 시부야 메인 거리(스탠다드 퍼니처)</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현지인 엄선 맛집</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도쿄 로컬 미식 가이드</a:t>
            </a:r>
          </a:p>
        </p:txBody>
      </p:sp>
      <p:sp>
        <p:nvSpPr>
          <p:cNvPr id="4" name="Text Placeholder 3"/>
          <p:cNvSpPr>
            <a:spLocks noGrp="1"/>
          </p:cNvSpPr>
          <p:nvPr>
            <p:ph idx="2" sz="half" type="body"/>
          </p:nvPr>
        </p:nvSpPr>
        <p:spPr/>
        <p:txBody>
          <a:bodyPr/>
          <a:lstStyle/>
          <a:p>
            <a:pPr lvl="0"/>
            <a:r>
              <a:rPr/>
              <a:t>미슐랭 선정 식당으로 겉바속촉의 부드러운 식감이 일품인 닭가슴살 카츠가 대표 메뉴인 롯폰기 이마카츠</a:t>
            </a:r>
          </a:p>
          <a:p>
            <a:pPr lvl="0"/>
            <a:r>
              <a:rPr/>
              <a:t>직원이 먹는 속도에 맞춰 함바그를 하나씩 구워주며 날계란 간장 소스가 별미인 오모테산도 요시 본점</a:t>
            </a:r>
          </a:p>
          <a:p>
            <a:pPr lvl="0"/>
            <a:r>
              <a:rPr/>
              <a:t>160년 전통의 수제 우동면 본연의 탱탱함을 느끼기 위해 찍어 먹는 스타일을 권장하는 긴자 사토 요스케</a:t>
            </a:r>
          </a:p>
          <a:p>
            <a:pPr lvl="0"/>
            <a:r>
              <a:rPr/>
              <a:t>고독한 미식가 출연 매장으로 1만 원대 런치를 통해 가성비 좋게 고품질 스키야키를 즐기는 샤브타츠</a:t>
            </a:r>
          </a:p>
          <a:p>
            <a:pPr lvl="0"/>
            <a:r>
              <a:rPr/>
              <a:t>5대째 이어진 쫀득한 넓적 면발인 ’오니히모카와’로 도쿄에서 가장 소문난 우동 전문점 고다이메 하나야마</a:t>
            </a:r>
          </a:p>
          <a:p>
            <a:pPr lvl="0" indent="0" marL="0">
              <a:buNone/>
            </a:pPr>
            <a:r>
              <a:rPr/>
              <a:t>[로컬 맛집 카테고리별 요약]</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메뉴</a:t>
                      </a:r>
                    </a:p>
                  </a:txBody>
                  <a:tcPr/>
                </a:tc>
                <a:tc>
                  <a:txBody>
                    <a:bodyPr/>
                    <a:lstStyle/>
                    <a:p>
                      <a:pPr lvl="0" indent="0" marL="0" algn="l">
                        <a:buNone/>
                      </a:pPr>
                      <a:r>
                        <a:rPr/>
                        <a:t>추천 식당</a:t>
                      </a:r>
                    </a:p>
                  </a:txBody>
                  <a:tcPr/>
                </a:tc>
                <a:tc>
                  <a:txBody>
                    <a:bodyPr/>
                    <a:lstStyle/>
                    <a:p>
                      <a:pPr lvl="0" indent="0" marL="0" algn="l">
                        <a:buNone/>
                      </a:pPr>
                      <a:r>
                        <a:rPr/>
                        <a:t>특징</a:t>
                      </a:r>
                    </a:p>
                  </a:txBody>
                  <a:tcPr/>
                </a:tc>
              </a:tr>
              <a:tr h="0">
                <a:tc>
                  <a:txBody>
                    <a:bodyPr/>
                    <a:lstStyle/>
                    <a:p>
                      <a:pPr lvl="0" indent="0" marL="0" algn="l">
                        <a:buNone/>
                      </a:pPr>
                      <a:r>
                        <a:rPr/>
                        <a:t>돈카츠</a:t>
                      </a:r>
                    </a:p>
                  </a:txBody>
                </a:tc>
                <a:tc>
                  <a:txBody>
                    <a:bodyPr/>
                    <a:lstStyle/>
                    <a:p>
                      <a:pPr lvl="0" indent="0" marL="0" algn="l">
                        <a:buNone/>
                      </a:pPr>
                      <a:r>
                        <a:rPr/>
                        <a:t>부타구미</a:t>
                      </a:r>
                    </a:p>
                  </a:txBody>
                </a:tc>
                <a:tc>
                  <a:txBody>
                    <a:bodyPr/>
                    <a:lstStyle/>
                    <a:p>
                      <a:pPr lvl="0" indent="0" marL="0" algn="l">
                        <a:buNone/>
                      </a:pPr>
                      <a:r>
                        <a:rPr/>
                        <a:t>3cm 두께의 압도적 육즙</a:t>
                      </a:r>
                    </a:p>
                  </a:txBody>
                </a:tc>
              </a:tr>
              <a:tr h="0">
                <a:tc>
                  <a:txBody>
                    <a:bodyPr/>
                    <a:lstStyle/>
                    <a:p>
                      <a:pPr lvl="0" indent="0" marL="0" algn="l">
                        <a:buNone/>
                      </a:pPr>
                      <a:r>
                        <a:rPr/>
                        <a:t>함바그</a:t>
                      </a:r>
                    </a:p>
                  </a:txBody>
                </a:tc>
                <a:tc>
                  <a:txBody>
                    <a:bodyPr/>
                    <a:lstStyle/>
                    <a:p>
                      <a:pPr lvl="0" indent="0" marL="0" algn="l">
                        <a:buNone/>
                      </a:pPr>
                      <a:r>
                        <a:rPr/>
                        <a:t>요시 본점</a:t>
                      </a:r>
                    </a:p>
                  </a:txBody>
                </a:tc>
                <a:tc>
                  <a:txBody>
                    <a:bodyPr/>
                    <a:lstStyle/>
                    <a:p>
                      <a:pPr lvl="0" indent="0" marL="0" algn="l">
                        <a:buNone/>
                      </a:pPr>
                      <a:r>
                        <a:rPr/>
                        <a:t>눈앞에서 구워주는 실시간 미식</a:t>
                      </a:r>
                    </a:p>
                  </a:txBody>
                </a:tc>
              </a:tr>
              <a:tr h="0">
                <a:tc>
                  <a:txBody>
                    <a:bodyPr/>
                    <a:lstStyle/>
                    <a:p>
                      <a:pPr lvl="0" indent="0" marL="0" algn="l">
                        <a:buNone/>
                      </a:pPr>
                      <a:r>
                        <a:rPr/>
                        <a:t>우동</a:t>
                      </a:r>
                    </a:p>
                  </a:txBody>
                </a:tc>
                <a:tc>
                  <a:txBody>
                    <a:bodyPr/>
                    <a:lstStyle/>
                    <a:p>
                      <a:pPr lvl="0" indent="0" marL="0" algn="l">
                        <a:buNone/>
                      </a:pPr>
                      <a:r>
                        <a:rPr/>
                        <a:t>사토 요스케</a:t>
                      </a:r>
                    </a:p>
                  </a:txBody>
                </a:tc>
                <a:tc>
                  <a:txBody>
                    <a:bodyPr/>
                    <a:lstStyle/>
                    <a:p>
                      <a:pPr lvl="0" indent="0" marL="0" algn="l">
                        <a:buNone/>
                      </a:pPr>
                      <a:r>
                        <a:rPr/>
                        <a:t>일본 3대 이나니와 우동</a:t>
                      </a:r>
                    </a:p>
                  </a:txBody>
                </a:tc>
              </a:tr>
              <a:tr h="0">
                <a:tc>
                  <a:txBody>
                    <a:bodyPr/>
                    <a:lstStyle/>
                    <a:p>
                      <a:pPr lvl="0" indent="0" marL="0" algn="l">
                        <a:buNone/>
                      </a:pPr>
                      <a:r>
                        <a:rPr/>
                        <a:t>라멘</a:t>
                      </a:r>
                    </a:p>
                  </a:txBody>
                </a:tc>
                <a:tc>
                  <a:txBody>
                    <a:bodyPr/>
                    <a:lstStyle/>
                    <a:p>
                      <a:pPr lvl="0" indent="0" marL="0" algn="l">
                        <a:buNone/>
                      </a:pPr>
                      <a:r>
                        <a:rPr/>
                        <a:t>오레류 시오</a:t>
                      </a:r>
                    </a:p>
                  </a:txBody>
                </a:tc>
                <a:tc>
                  <a:txBody>
                    <a:bodyPr/>
                    <a:lstStyle/>
                    <a:p>
                      <a:pPr lvl="0" indent="0" marL="0" algn="l">
                        <a:buNone/>
                      </a:pPr>
                      <a:r>
                        <a:rPr/>
                        <a:t>DIY 방식의 나만의 소금 라면</a:t>
                      </a:r>
                    </a:p>
                  </a:txBody>
                </a:tc>
              </a:tr>
              <a:tr h="0">
                <a:tc>
                  <a:txBody>
                    <a:bodyPr/>
                    <a:lstStyle/>
                    <a:p>
                      <a:pPr lvl="0" indent="0" marL="0" algn="l">
                        <a:buNone/>
                      </a:pPr>
                      <a:r>
                        <a:rPr/>
                        <a:t>가이세키</a:t>
                      </a:r>
                    </a:p>
                  </a:txBody>
                </a:tc>
                <a:tc>
                  <a:txBody>
                    <a:bodyPr/>
                    <a:lstStyle/>
                    <a:p>
                      <a:pPr lvl="0" indent="0" marL="0" algn="l">
                        <a:buNone/>
                      </a:pPr>
                      <a:r>
                        <a:rPr/>
                        <a:t>덴</a:t>
                      </a:r>
                    </a:p>
                  </a:txBody>
                </a:tc>
                <a:tc>
                  <a:txBody>
                    <a:bodyPr/>
                    <a:lstStyle/>
                    <a:p>
                      <a:pPr lvl="0" indent="0" marL="0" algn="l">
                        <a:buNone/>
                      </a:pPr>
                      <a:r>
                        <a:rPr/>
                        <a:t>창의적인 퓨전 일식 1위</a:t>
                      </a:r>
                    </a:p>
                  </a:txBody>
                </a:tc>
              </a:tr>
            </a:tbl>
          </a:graphicData>
        </a:graphic>
      </p:graphicFrame>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주류 쇼핑의 세계</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위스키와 사케 명소</a:t>
            </a:r>
          </a:p>
        </p:txBody>
      </p:sp>
      <p:sp>
        <p:nvSpPr>
          <p:cNvPr id="3" name="Content Placeholder 2"/>
          <p:cNvSpPr>
            <a:spLocks noGrp="1"/>
          </p:cNvSpPr>
          <p:nvPr>
            <p:ph idx="1"/>
          </p:nvPr>
        </p:nvSpPr>
        <p:spPr/>
        <p:txBody>
          <a:bodyPr/>
          <a:lstStyle/>
          <a:p>
            <a:pPr lvl="0"/>
            <a:r>
              <a:rPr/>
              <a:t>사케부터 국산 와인까지 220종의 크래프트 비어 바를 운영하며 전문가 시음 기회를 제공하는 이세탄 신주쿠</a:t>
            </a:r>
          </a:p>
          <a:p>
            <a:pPr lvl="0"/>
            <a:r>
              <a:rPr/>
              <a:t>역세권에 위치하여 환승 중 편리하게 이용 가능하며 자체 브랜드 와인과 츄하이 라인업이 풍부한 세이조 이시이</a:t>
            </a:r>
          </a:p>
          <a:p>
            <a:pPr lvl="0"/>
            <a:r>
              <a:rPr/>
              <a:t>일본 전역의 술을 카테고리별로 깔끔하게 정리하고 영어 표지판을 제공하여 여행객에게 친절한 카쿠야스</a:t>
            </a:r>
          </a:p>
          <a:p>
            <a:pPr lvl="0"/>
            <a:r>
              <a:rPr/>
              <a:t>야마자키와 하쿠슈 같은 프리미엄 위스키를 고급 목재 박스 패키지에 담아 면세가로 판매하는 롯데 면세점</a:t>
            </a:r>
          </a:p>
          <a:p>
            <a:pPr lvl="0"/>
            <a:r>
              <a:rPr/>
              <a:t>면세 혜택에 추가 3% 할인을 더해 닷사이나 핫카이산 같은 명주를 가장 저렴하게 구매할 수 있는 빅카메라</a:t>
            </a:r>
          </a:p>
          <a:p>
            <a:pPr lvl="0" indent="0" marL="0">
              <a:buNone/>
            </a:pPr>
            <a:r>
              <a:rPr/>
              <a:t>[주류 쇼핑몰별 강점 비교] - 백화점(이세탄): ██████████ (고급 사케, 전문가 시음) - 할인점(빅카메라): ████████ (최저가 면세, 대중주) - 전문점(카쿠야스): ██████ (희귀 일본 와인, 시즌 음료)</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면세 제도 개편 예고</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2026년 변화와 미래 대응</a:t>
            </a:r>
          </a:p>
        </p:txBody>
      </p:sp>
      <p:sp>
        <p:nvSpPr>
          <p:cNvPr id="4" name="Text Placeholder 3"/>
          <p:cNvSpPr>
            <a:spLocks noGrp="1"/>
          </p:cNvSpPr>
          <p:nvPr>
            <p:ph idx="2" sz="half" type="body"/>
          </p:nvPr>
        </p:nvSpPr>
        <p:spPr/>
        <p:txBody>
          <a:bodyPr/>
          <a:lstStyle/>
          <a:p>
            <a:pPr lvl="0"/>
            <a:r>
              <a:rPr/>
              <a:t>일본 정부의 부정 거래 방지를 위해 2026년 11월부터 현행 즉시 면세에서 사후 환급 제도로 변경 예정</a:t>
            </a:r>
          </a:p>
          <a:p>
            <a:pPr lvl="0"/>
            <a:r>
              <a:rPr/>
              <a:t>매장에서 소비세 10%를 포함한 가격으로 먼저 결제하고 출국 시 공항 세관에서 환급받는 절차의 도입</a:t>
            </a:r>
          </a:p>
          <a:p>
            <a:pPr lvl="0"/>
            <a:r>
              <a:rPr/>
              <a:t>제도 개편으로 인한 공항 환급 대기 시간을 고려하여 귀국 당일 더욱 여유 있는 공항 도착 일정 수립 필요</a:t>
            </a:r>
          </a:p>
          <a:p>
            <a:pPr lvl="0"/>
            <a:r>
              <a:rPr/>
              <a:t>소매점 측면에서는 일반 물품과 소모품의 구분 및 특수 포장 등의 복잡한 절차가 해소되어 운영 효율 증대</a:t>
            </a:r>
          </a:p>
          <a:p>
            <a:pPr lvl="0"/>
            <a:r>
              <a:rPr/>
              <a:t>주식회사 JTC 등 대형 플랫폼은 강력한 송객 네트워크를 기반으로 제도 변화에도 안정적 수익성 유지 전망</a:t>
            </a:r>
          </a:p>
          <a:p>
            <a:pPr lvl="0" indent="0" marL="0">
              <a:buNone/>
            </a:pPr>
            <a:r>
              <a:rPr/>
              <a:t>[면세 제도 변경 전후 비교]</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구분</a:t>
                      </a:r>
                    </a:p>
                  </a:txBody>
                  <a:tcPr/>
                </a:tc>
                <a:tc>
                  <a:txBody>
                    <a:bodyPr/>
                    <a:lstStyle/>
                    <a:p>
                      <a:pPr lvl="0" indent="0" marL="0" algn="l">
                        <a:buNone/>
                      </a:pPr>
                      <a:r>
                        <a:rPr/>
                        <a:t>현행 (Before)</a:t>
                      </a:r>
                    </a:p>
                  </a:txBody>
                  <a:tcPr/>
                </a:tc>
                <a:tc>
                  <a:txBody>
                    <a:bodyPr/>
                    <a:lstStyle/>
                    <a:p>
                      <a:pPr lvl="0" indent="0" marL="0" algn="l">
                        <a:buNone/>
                      </a:pPr>
                      <a:r>
                        <a:rPr/>
                        <a:t>2026.11 이후 (After)</a:t>
                      </a:r>
                    </a:p>
                  </a:txBody>
                  <a:tcPr/>
                </a:tc>
              </a:tr>
              <a:tr h="0">
                <a:tc>
                  <a:txBody>
                    <a:bodyPr/>
                    <a:lstStyle/>
                    <a:p>
                      <a:pPr lvl="0" indent="0" marL="0" algn="l">
                        <a:buNone/>
                      </a:pPr>
                      <a:r>
                        <a:rPr/>
                        <a:t>결제 방식</a:t>
                      </a:r>
                    </a:p>
                  </a:txBody>
                </a:tc>
                <a:tc>
                  <a:txBody>
                    <a:bodyPr/>
                    <a:lstStyle/>
                    <a:p>
                      <a:pPr lvl="0" indent="0" marL="0" algn="l">
                        <a:buNone/>
                      </a:pPr>
                      <a:r>
                        <a:rPr/>
                        <a:t>0% 면세가 즉시 결제</a:t>
                      </a:r>
                    </a:p>
                  </a:txBody>
                </a:tc>
                <a:tc>
                  <a:txBody>
                    <a:bodyPr/>
                    <a:lstStyle/>
                    <a:p>
                      <a:pPr lvl="0" indent="0" marL="0" algn="l">
                        <a:buNone/>
                      </a:pPr>
                      <a:r>
                        <a:rPr/>
                        <a:t>10% 포함가 결제 후 환급</a:t>
                      </a:r>
                    </a:p>
                  </a:txBody>
                </a:tc>
              </a:tr>
              <a:tr h="0">
                <a:tc>
                  <a:txBody>
                    <a:bodyPr/>
                    <a:lstStyle/>
                    <a:p>
                      <a:pPr lvl="0" indent="0" marL="0" algn="l">
                        <a:buNone/>
                      </a:pPr>
                      <a:r>
                        <a:rPr/>
                        <a:t>환급 장소</a:t>
                      </a:r>
                    </a:p>
                  </a:txBody>
                </a:tc>
                <a:tc>
                  <a:txBody>
                    <a:bodyPr/>
                    <a:lstStyle/>
                    <a:p>
                      <a:pPr lvl="0" indent="0" marL="0" algn="l">
                        <a:buNone/>
                      </a:pPr>
                      <a:r>
                        <a:rPr/>
                        <a:t>매장 내 즉시 처리</a:t>
                      </a:r>
                    </a:p>
                  </a:txBody>
                </a:tc>
                <a:tc>
                  <a:txBody>
                    <a:bodyPr/>
                    <a:lstStyle/>
                    <a:p>
                      <a:pPr lvl="0" indent="0" marL="0" algn="l">
                        <a:buNone/>
                      </a:pPr>
                      <a:r>
                        <a:rPr/>
                        <a:t>공항 세관 등 전용 창구</a:t>
                      </a:r>
                    </a:p>
                  </a:txBody>
                </a:tc>
              </a:tr>
              <a:tr h="0">
                <a:tc>
                  <a:txBody>
                    <a:bodyPr/>
                    <a:lstStyle/>
                    <a:p>
                      <a:pPr lvl="0" indent="0" marL="0" algn="l">
                        <a:buNone/>
                      </a:pPr>
                      <a:r>
                        <a:rPr/>
                        <a:t>추가 비용</a:t>
                      </a:r>
                    </a:p>
                  </a:txBody>
                </a:tc>
                <a:tc>
                  <a:txBody>
                    <a:bodyPr/>
                    <a:lstStyle/>
                    <a:p>
                      <a:pPr lvl="0" indent="0" marL="0" algn="l">
                        <a:buNone/>
                      </a:pPr>
                      <a:r>
                        <a:rPr/>
                        <a:t>수수료 없음</a:t>
                      </a:r>
                    </a:p>
                  </a:txBody>
                </a:tc>
                <a:tc>
                  <a:txBody>
                    <a:bodyPr/>
                    <a:lstStyle/>
                    <a:p>
                      <a:pPr lvl="0" indent="0" marL="0" algn="l">
                        <a:buNone/>
                      </a:pPr>
                      <a:r>
                        <a:rPr/>
                        <a:t>환급 시 일정 수수료 발생</a:t>
                      </a:r>
                    </a:p>
                  </a:txBody>
                </a:tc>
              </a:tr>
              <a:tr h="0">
                <a:tc>
                  <a:txBody>
                    <a:bodyPr/>
                    <a:lstStyle/>
                    <a:p>
                      <a:pPr lvl="0" indent="0" marL="0" algn="l">
                        <a:buNone/>
                      </a:pPr>
                      <a:r>
                        <a:rPr/>
                        <a:t>검사 강도</a:t>
                      </a:r>
                    </a:p>
                  </a:txBody>
                </a:tc>
                <a:tc>
                  <a:txBody>
                    <a:bodyPr/>
                    <a:lstStyle/>
                    <a:p>
                      <a:pPr lvl="0" indent="0" marL="0" algn="l">
                        <a:buNone/>
                      </a:pPr>
                      <a:r>
                        <a:rPr/>
                        <a:t>임의적인 세관 검사</a:t>
                      </a:r>
                    </a:p>
                  </a:txBody>
                </a:tc>
                <a:tc>
                  <a:txBody>
                    <a:bodyPr/>
                    <a:lstStyle/>
                    <a:p>
                      <a:pPr lvl="0" indent="0" marL="0" algn="l">
                        <a:buNone/>
                      </a:pPr>
                      <a:r>
                        <a:rPr/>
                        <a:t>본인 확인 및 물품 확인 강화</a:t>
                      </a:r>
                    </a:p>
                  </a:txBody>
                </a:tc>
              </a:tr>
            </a:tbl>
          </a:graphicData>
        </a:graphic>
      </p:graphicFrame>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스마트 여행 팁 요약</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교육 마무리 및 최종 점검</a:t>
            </a:r>
          </a:p>
        </p:txBody>
      </p:sp>
      <p:sp>
        <p:nvSpPr>
          <p:cNvPr id="3" name="Content Placeholder 2"/>
          <p:cNvSpPr>
            <a:spLocks noGrp="1"/>
          </p:cNvSpPr>
          <p:nvPr>
            <p:ph idx="1"/>
          </p:nvPr>
        </p:nvSpPr>
        <p:spPr/>
        <p:txBody>
          <a:bodyPr/>
          <a:lstStyle/>
          <a:p>
            <a:pPr lvl="0"/>
            <a:r>
              <a:rPr/>
              <a:t>도심 이동이 많다면 24/48/72시간 단위의 도쿄 지하철 패스를, 근교 확장 시 JR 와이드 패스를 전략적 선택</a:t>
            </a:r>
          </a:p>
          <a:p>
            <a:pPr lvl="0"/>
            <a:r>
              <a:rPr/>
              <a:t>점심시간의 웨이팅을 피하기 위해 백화점 지하 데파치카의 고퀄리티 도시락을 활용한 효율적 시간 관리</a:t>
            </a:r>
          </a:p>
          <a:p>
            <a:pPr lvl="0"/>
            <a:r>
              <a:rPr/>
              <a:t>일부 노후된 상점이나 소규모 카페는 여전히 카드 결제가 불가하므로 항상 소액의 현금을 지참하는 습관</a:t>
            </a:r>
          </a:p>
          <a:p>
            <a:pPr lvl="0"/>
            <a:r>
              <a:rPr/>
              <a:t>사람이 많이 붐비는 난바나 시부야 등지에서는 소지품 관리에 각별히 유의하며 현지 줄 서기 매너 준수</a:t>
            </a:r>
          </a:p>
          <a:p>
            <a:pPr lvl="0"/>
            <a:r>
              <a:rPr/>
              <a:t>최신 정보 확인을 위해 여행 커뮤니티나 블로그의 업데이트 날짜를 항상 체크하고 변동 사항에 유연하게 대응</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2025-12-24T06:32:06Z</dcterms:created>
  <dcterms:modified xsi:type="dcterms:W3CDTF">2025-12-24T06:32:06Z</dcterms:modified>
</cp:coreProperties>
</file>

<file path=docProps/custom.xml><?xml version="1.0" encoding="utf-8"?>
<Properties xmlns="http://schemas.openxmlformats.org/officeDocument/2006/custom-properties" xmlns:vt="http://schemas.openxmlformats.org/officeDocument/2006/docPropsVTypes"/>
</file>