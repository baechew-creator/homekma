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2025 도쿄 여행 완전 정복: 일정, 쇼핑, 맛집 및 꿀팁 총정리</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2025년 도쿄 여행 트렌드 및 검색 동향 분석</a:t>
            </a:r>
          </a:p>
        </p:txBody>
      </p:sp>
      <p:sp>
        <p:nvSpPr>
          <p:cNvPr id="3" name="Content Placeholder 2"/>
          <p:cNvSpPr>
            <a:spLocks noGrp="1"/>
          </p:cNvSpPr>
          <p:nvPr>
            <p:ph idx="1"/>
          </p:nvPr>
        </p:nvSpPr>
        <p:spPr/>
        <p:txBody>
          <a:bodyPr/>
          <a:lstStyle/>
          <a:p>
            <a:pPr lvl="0" indent="0" marL="0">
              <a:buNone/>
            </a:pPr>
            <a:r>
              <a:rPr/>
              <a:t>2025년 도쿄 여행은 단순한 관광을 넘어 현지의 실용적인 아이템을 탐색하고 디지털 서비스를 적극 활용하는 방향으로 진화하고 있습니다. 구글 트렌드 분석에 따르면 여행객들의 관심사는 계절별로 뚜렷한 변동을 보이며, 특히 성수기인 겨울과 여름에 준비물에 대한 수요가 급증하는 양상을 보입니다. 스마트한 여행을 위해 전용 앱을 활용하고 면세 혜택을 극대화하는 전략이 필수가 되었습니다.</a:t>
            </a:r>
          </a:p>
          <a:p>
            <a:pPr lvl="0"/>
            <a:r>
              <a:rPr b="1"/>
              <a:t>성수기 검색 피크 확인</a:t>
            </a:r>
            <a:r>
              <a:rPr/>
              <a:t>: 2025년 2월 겨울 성수기와 7월 여름 성수기에 일본 여행 필수품 및 준비물에 대한 검색량이 최고치를 달성함.</a:t>
            </a:r>
          </a:p>
          <a:p>
            <a:pPr lvl="0"/>
            <a:r>
              <a:rPr b="1"/>
              <a:t>비수기 진입 시점 파악</a:t>
            </a:r>
            <a:r>
              <a:rPr/>
              <a:t>: 9월은 도쿄 여행의 검색량이 하락하는 비수기로 분석되므로 인파를 피해 여유로운 여행을 즐기기에 적합한 시기임.</a:t>
            </a:r>
          </a:p>
          <a:p>
            <a:pPr lvl="0"/>
            <a:r>
              <a:rPr b="1"/>
              <a:t>인기 카테고리의 부상</a:t>
            </a:r>
            <a:r>
              <a:rPr/>
              <a:t>: 2025년 실제 구매 트렌드를 분석한 결과 의약품, 생활용품, 화장품이 가장 인기 있는 상위 3대 카테고리로 부상함.</a:t>
            </a:r>
          </a:p>
          <a:p>
            <a:pPr lvl="0"/>
            <a:r>
              <a:rPr b="1"/>
              <a:t>디지털 서비스 활용 증대</a:t>
            </a:r>
            <a:r>
              <a:rPr/>
              <a:t>: 실용성을 중시하는 여행객들 사이에서 구글맵, 타베로그, 파파고 등 여행 편의를 돕는 필수 앱 패키지의 활용이 보편화됨.</a:t>
            </a:r>
          </a:p>
          <a:p>
            <a:pPr lvl="0"/>
            <a:r>
              <a:rPr b="1"/>
              <a:t>미래 수요 예측 기반 준비</a:t>
            </a:r>
            <a:r>
              <a:rPr/>
              <a:t>: 2025년 12월에는 준비물 검색량이 전년 대비 70% 증가할 것으로 예상되므로 사전 예약과 정보 수집이 더욱 중요해짐.</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도쿄 여행 필수 준비물 및 사전 체크리스트</a:t>
            </a:r>
          </a:p>
        </p:txBody>
      </p:sp>
      <p:sp>
        <p:nvSpPr>
          <p:cNvPr id="3" name="Content Placeholder 2"/>
          <p:cNvSpPr>
            <a:spLocks noGrp="1"/>
          </p:cNvSpPr>
          <p:nvPr>
            <p:ph idx="1"/>
          </p:nvPr>
        </p:nvSpPr>
        <p:spPr/>
        <p:txBody>
          <a:bodyPr/>
          <a:lstStyle/>
          <a:p>
            <a:pPr lvl="0" indent="0" marL="0">
              <a:buNone/>
            </a:pPr>
            <a:r>
              <a:rPr/>
              <a:t>도쿄 여행의 질은 철저한 사전 준비에서 결정되며, 특히 혼자 떠나는 여행자에게는 안전과 편의를 위한 항목들이 필수적입니다. 여권과 항공권 같은 기본 서류 외에도 현지에서 원활한 소통과 이동을 돕는 디지털 기기 및 경제적 이득을 위한 환전 전략이 필요합니다.</a:t>
            </a:r>
          </a:p>
          <a:p>
            <a:pPr lvl="0"/>
            <a:r>
              <a:rPr b="1"/>
              <a:t>디지털 기기 및 연결성 확보</a:t>
            </a:r>
            <a:r>
              <a:rPr/>
              <a:t>: 포켓 와이파이 또는 유심(Usim)을 준비하고 장시간 외부 활동에 대비하여 고용량 보조 배터리를 반드시 지참해야 함.</a:t>
            </a:r>
          </a:p>
          <a:p>
            <a:pPr lvl="0"/>
            <a:r>
              <a:rPr b="1"/>
              <a:t>현지 전압 규격 대응</a:t>
            </a:r>
            <a:r>
              <a:rPr/>
              <a:t>: 일본 전용 플러그(돼지코)를 준비하여 국내 가전제품 사용에 차질이 없도록 하고 비상시를 대비한 여행자 보험에 가입함.</a:t>
            </a:r>
          </a:p>
          <a:p>
            <a:pPr lvl="0"/>
            <a:r>
              <a:rPr b="1"/>
              <a:t>경제적인 환전 및 결제 수단</a:t>
            </a:r>
            <a:r>
              <a:rPr/>
              <a:t>: 한국 공항보다 현지 환전소나 편의점 ATM을 활용하고, 트래블로그나 트래블월렛 카드를 사용하여 수수료를 절감함.</a:t>
            </a:r>
          </a:p>
          <a:p>
            <a:pPr lvl="0"/>
            <a:r>
              <a:rPr b="1"/>
              <a:t>기본 회화 및 매너 숙지</a:t>
            </a:r>
            <a:r>
              <a:rPr/>
              <a:t>: 현지에서 유용하게 사용할 수 있는 기본적인 일본어 인사말을 메모해 두어 현지인과의 소통에서 예의를 갖추고 유대감을 형성함.</a:t>
            </a:r>
          </a:p>
          <a:p>
            <a:pPr lvl="0"/>
            <a:r>
              <a:rPr b="1"/>
              <a:t>정보 검색 및 길 찾기 대비</a:t>
            </a:r>
            <a:r>
              <a:rPr/>
              <a:t>: 구글 맵에 방문할 예정인 여행지와 맛집을 미리 저장해 두어 현지에서 시간 낭비 없이 효율적으로 이동할 수 있도록 준비함.</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3. 나리타 공항에서 도쿄 시내로의 교통수단 비교</a:t>
            </a:r>
          </a:p>
        </p:txBody>
      </p:sp>
      <p:sp>
        <p:nvSpPr>
          <p:cNvPr id="4" name="Text Placeholder 3"/>
          <p:cNvSpPr>
            <a:spLocks noGrp="1"/>
          </p:cNvSpPr>
          <p:nvPr>
            <p:ph idx="2" sz="half" type="body"/>
          </p:nvPr>
        </p:nvSpPr>
        <p:spPr/>
        <p:txBody>
          <a:bodyPr/>
          <a:lstStyle/>
          <a:p>
            <a:pPr lvl="0" indent="0" marL="0">
              <a:buNone/>
            </a:pPr>
            <a:r>
              <a:rPr/>
              <a:t>나리타 공항에서 도쿄 도심으로 이동하는 방법은 소요 시간, 요금, 편의성에 따라 다양하며 여행객의 숙소 위치와 예산에 맞춰 최적의 선택을 해야 합니다. 가장 빠른 스카이라이너부터 가성비가 뛰어난 저가 버스까지 각 수단은 뚜렷한 장단점을 가지고 있습니다.</a:t>
            </a:r>
          </a:p>
          <a:p>
            <a:pPr lvl="0" indent="0" marL="0">
              <a:buNone/>
            </a:pPr>
            <a:r>
              <a:rPr b="1"/>
              <a:t>[표 1] 나리타 공항 이동 수단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lgn="l">
                        <a:buNone/>
                      </a:pPr>
                      <a:r>
                        <a:rPr/>
                        <a:t>수단</a:t>
                      </a:r>
                    </a:p>
                  </a:txBody>
                  <a:tcPr/>
                </a:tc>
                <a:tc>
                  <a:txBody>
                    <a:bodyPr/>
                    <a:lstStyle/>
                    <a:p>
                      <a:pPr lvl="0" indent="0" marL="0" algn="l">
                        <a:buNone/>
                      </a:pPr>
                      <a:r>
                        <a:rPr/>
                        <a:t>소요 시간</a:t>
                      </a:r>
                    </a:p>
                  </a:txBody>
                  <a:tcPr/>
                </a:tc>
                <a:tc>
                  <a:txBody>
                    <a:bodyPr/>
                    <a:lstStyle/>
                    <a:p>
                      <a:pPr lvl="0" indent="0" marL="0" algn="l">
                        <a:buNone/>
                      </a:pPr>
                      <a:r>
                        <a:rPr/>
                        <a:t>편도 요금</a:t>
                      </a:r>
                    </a:p>
                  </a:txBody>
                  <a:tcPr/>
                </a:tc>
                <a:tc>
                  <a:txBody>
                    <a:bodyPr/>
                    <a:lstStyle/>
                    <a:p>
                      <a:pPr lvl="0" indent="0" marL="0" algn="l">
                        <a:buNone/>
                      </a:pPr>
                      <a:r>
                        <a:rPr/>
                        <a:t>주요 장점</a:t>
                      </a:r>
                    </a:p>
                  </a:txBody>
                  <a:tcPr/>
                </a:tc>
                <a:tc>
                  <a:txBody>
                    <a:bodyPr/>
                    <a:lstStyle/>
                    <a:p>
                      <a:pPr lvl="0" indent="0" marL="0" algn="l">
                        <a:buNone/>
                      </a:pPr>
                      <a:r>
                        <a:rPr/>
                        <a:t>추천 상황</a:t>
                      </a:r>
                    </a:p>
                  </a:txBody>
                  <a:tcPr/>
                </a:tc>
              </a:tr>
              <a:tr h="0">
                <a:tc>
                  <a:txBody>
                    <a:bodyPr/>
                    <a:lstStyle/>
                    <a:p>
                      <a:pPr lvl="0" indent="0" marL="0" algn="l">
                        <a:buNone/>
                      </a:pPr>
                      <a:r>
                        <a:rPr b="1"/>
                        <a:t>나리타 익스프레스</a:t>
                      </a:r>
                    </a:p>
                  </a:txBody>
                </a:tc>
                <a:tc>
                  <a:txBody>
                    <a:bodyPr/>
                    <a:lstStyle/>
                    <a:p>
                      <a:pPr lvl="0" indent="0" marL="0" algn="l">
                        <a:buNone/>
                      </a:pPr>
                      <a:r>
                        <a:rPr/>
                        <a:t>약 60분</a:t>
                      </a:r>
                    </a:p>
                  </a:txBody>
                </a:tc>
                <a:tc>
                  <a:txBody>
                    <a:bodyPr/>
                    <a:lstStyle/>
                    <a:p>
                      <a:pPr lvl="0" indent="0" marL="0" algn="l">
                        <a:buNone/>
                      </a:pPr>
                      <a:r>
                        <a:rPr/>
                        <a:t>약 3,070엔</a:t>
                      </a:r>
                    </a:p>
                  </a:txBody>
                </a:tc>
                <a:tc>
                  <a:txBody>
                    <a:bodyPr/>
                    <a:lstStyle/>
                    <a:p>
                      <a:pPr lvl="0" indent="0" marL="0" algn="l">
                        <a:buNone/>
                      </a:pPr>
                      <a:r>
                        <a:rPr/>
                        <a:t>전 좌석 지정석, 환승 적음</a:t>
                      </a:r>
                    </a:p>
                  </a:txBody>
                </a:tc>
                <a:tc>
                  <a:txBody>
                    <a:bodyPr/>
                    <a:lstStyle/>
                    <a:p>
                      <a:pPr lvl="0" indent="0" marL="0" algn="l">
                        <a:buNone/>
                      </a:pPr>
                      <a:r>
                        <a:rPr/>
                        <a:t>신주쿠, 도쿄역 방면</a:t>
                      </a:r>
                    </a:p>
                  </a:txBody>
                </a:tc>
              </a:tr>
              <a:tr h="0">
                <a:tc>
                  <a:txBody>
                    <a:bodyPr/>
                    <a:lstStyle/>
                    <a:p>
                      <a:pPr lvl="0" indent="0" marL="0" algn="l">
                        <a:buNone/>
                      </a:pPr>
                      <a:r>
                        <a:rPr b="1"/>
                        <a:t>스카이라이너</a:t>
                      </a:r>
                    </a:p>
                  </a:txBody>
                </a:tc>
                <a:tc>
                  <a:txBody>
                    <a:bodyPr/>
                    <a:lstStyle/>
                    <a:p>
                      <a:pPr lvl="0" indent="0" marL="0" algn="l">
                        <a:buNone/>
                      </a:pPr>
                      <a:r>
                        <a:rPr/>
                        <a:t>약 41분</a:t>
                      </a:r>
                    </a:p>
                  </a:txBody>
                </a:tc>
                <a:tc>
                  <a:txBody>
                    <a:bodyPr/>
                    <a:lstStyle/>
                    <a:p>
                      <a:pPr lvl="0" indent="0" marL="0" algn="l">
                        <a:buNone/>
                      </a:pPr>
                      <a:r>
                        <a:rPr/>
                        <a:t>약 2,520엔</a:t>
                      </a:r>
                    </a:p>
                  </a:txBody>
                </a:tc>
                <a:tc>
                  <a:txBody>
                    <a:bodyPr/>
                    <a:lstStyle/>
                    <a:p>
                      <a:pPr lvl="0" indent="0" marL="0" algn="l">
                        <a:buNone/>
                      </a:pPr>
                      <a:r>
                        <a:rPr/>
                        <a:t>정시성 우수, 매우 빠름</a:t>
                      </a:r>
                    </a:p>
                  </a:txBody>
                </a:tc>
                <a:tc>
                  <a:txBody>
                    <a:bodyPr/>
                    <a:lstStyle/>
                    <a:p>
                      <a:pPr lvl="0" indent="0" marL="0" algn="l">
                        <a:buNone/>
                      </a:pPr>
                      <a:r>
                        <a:rPr/>
                        <a:t>우에노, 닛포리 방면</a:t>
                      </a:r>
                    </a:p>
                  </a:txBody>
                </a:tc>
              </a:tr>
              <a:tr h="0">
                <a:tc>
                  <a:txBody>
                    <a:bodyPr/>
                    <a:lstStyle/>
                    <a:p>
                      <a:pPr lvl="0" indent="0" marL="0" algn="l">
                        <a:buNone/>
                      </a:pPr>
                      <a:r>
                        <a:rPr b="1"/>
                        <a:t>리무진 버스</a:t>
                      </a:r>
                    </a:p>
                  </a:txBody>
                </a:tc>
                <a:tc>
                  <a:txBody>
                    <a:bodyPr/>
                    <a:lstStyle/>
                    <a:p>
                      <a:pPr lvl="0" indent="0" marL="0" algn="l">
                        <a:buNone/>
                      </a:pPr>
                      <a:r>
                        <a:rPr/>
                        <a:t>70~100분</a:t>
                      </a:r>
                    </a:p>
                  </a:txBody>
                </a:tc>
                <a:tc>
                  <a:txBody>
                    <a:bodyPr/>
                    <a:lstStyle/>
                    <a:p>
                      <a:pPr lvl="0" indent="0" marL="0" algn="l">
                        <a:buNone/>
                      </a:pPr>
                      <a:r>
                        <a:rPr/>
                        <a:t>약 3,200엔</a:t>
                      </a:r>
                    </a:p>
                  </a:txBody>
                </a:tc>
                <a:tc>
                  <a:txBody>
                    <a:bodyPr/>
                    <a:lstStyle/>
                    <a:p>
                      <a:pPr lvl="0" indent="0" marL="0" algn="l">
                        <a:buNone/>
                      </a:pPr>
                      <a:r>
                        <a:rPr/>
                        <a:t>호텔 앞 하차, 짐 이동 편리</a:t>
                      </a:r>
                    </a:p>
                  </a:txBody>
                </a:tc>
                <a:tc>
                  <a:txBody>
                    <a:bodyPr/>
                    <a:lstStyle/>
                    <a:p>
                      <a:pPr lvl="0" indent="0" marL="0" algn="l">
                        <a:buNone/>
                      </a:pPr>
                      <a:r>
                        <a:rPr/>
                        <a:t>가족 여행, 짐이 많을 때</a:t>
                      </a:r>
                    </a:p>
                  </a:txBody>
                </a:tc>
              </a:tr>
              <a:tr h="0">
                <a:tc>
                  <a:txBody>
                    <a:bodyPr/>
                    <a:lstStyle/>
                    <a:p>
                      <a:pPr lvl="0" indent="0" marL="0" algn="l">
                        <a:buNone/>
                      </a:pPr>
                      <a:r>
                        <a:rPr b="1"/>
                        <a:t>저가 공항 버스</a:t>
                      </a:r>
                    </a:p>
                  </a:txBody>
                </a:tc>
                <a:tc>
                  <a:txBody>
                    <a:bodyPr/>
                    <a:lstStyle/>
                    <a:p>
                      <a:pPr lvl="0" indent="0" marL="0" algn="l">
                        <a:buNone/>
                      </a:pPr>
                      <a:r>
                        <a:rPr/>
                        <a:t>70~100분</a:t>
                      </a:r>
                    </a:p>
                  </a:txBody>
                </a:tc>
                <a:tc>
                  <a:txBody>
                    <a:bodyPr/>
                    <a:lstStyle/>
                    <a:p>
                      <a:pPr lvl="0" indent="0" marL="0" algn="l">
                        <a:buNone/>
                      </a:pPr>
                      <a:r>
                        <a:rPr/>
                        <a:t>약 1,500엔</a:t>
                      </a:r>
                    </a:p>
                  </a:txBody>
                </a:tc>
                <a:tc>
                  <a:txBody>
                    <a:bodyPr/>
                    <a:lstStyle/>
                    <a:p>
                      <a:pPr lvl="0" indent="0" marL="0" algn="l">
                        <a:buNone/>
                      </a:pPr>
                      <a:r>
                        <a:rPr/>
                        <a:t>최고 가성비, 직행 운행</a:t>
                      </a:r>
                    </a:p>
                  </a:txBody>
                </a:tc>
                <a:tc>
                  <a:txBody>
                    <a:bodyPr/>
                    <a:lstStyle/>
                    <a:p>
                      <a:pPr lvl="0" indent="0" marL="0" algn="l">
                        <a:buNone/>
                      </a:pPr>
                      <a:r>
                        <a:rPr/>
                        <a:t>알뜰 여행, 도쿄역 방면</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스카이라이너의 정시성</a:t>
            </a:r>
            <a:r>
              <a:rPr/>
              <a:t>: 도로 정체 영향을 받지 않고 우에노까지 가장 빠르게 도착할 수 있어 시간 예측이 용이한 이동 수단임.</a:t>
            </a:r>
          </a:p>
          <a:p>
            <a:pPr lvl="0"/>
            <a:r>
              <a:rPr b="1"/>
              <a:t>나리타 익스프레스의 편의</a:t>
            </a:r>
            <a:r>
              <a:rPr/>
              <a:t>: 수하물 보관 공간이 넉넉하고 신주쿠나 요코하마까지 직행하여 주요 거점으로 이동하기에 매우 편리함.</a:t>
            </a:r>
          </a:p>
          <a:p>
            <a:pPr lvl="0"/>
            <a:r>
              <a:rPr b="1"/>
              <a:t>리무진 버스의 강점</a:t>
            </a:r>
            <a:r>
              <a:rPr/>
              <a:t>: 공항에서 주요 호텔 및 랜드마크로 바로 연결되므로 환승 스트레스 없이 문 앞까지 이동이 가능한 서비스임.</a:t>
            </a:r>
          </a:p>
          <a:p>
            <a:pPr lvl="0"/>
            <a:r>
              <a:rPr b="1"/>
              <a:t>가성비 중심의 저가 버스</a:t>
            </a:r>
            <a:r>
              <a:rPr/>
              <a:t>: 1,500엔대의 저렴한 가격으로 도쿄역이나 긴자까지 직행할 수 있어 예산을 중시하는 여행자에게 최적임.</a:t>
            </a:r>
          </a:p>
          <a:p>
            <a:pPr lvl="0"/>
            <a:r>
              <a:rPr b="1"/>
              <a:t>심야 도착 시 대안</a:t>
            </a:r>
            <a:r>
              <a:rPr/>
              <a:t>: 대중교통이 끊긴 심야 시간대에 도착할 경우 비용은 높으나 문 앞까지 이동 가능한 택시 이용이 불가피함.</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하네다 공항 활용 및 밤도깨비 여행 팁</a:t>
            </a:r>
          </a:p>
        </p:txBody>
      </p:sp>
      <p:sp>
        <p:nvSpPr>
          <p:cNvPr id="3" name="Content Placeholder 2"/>
          <p:cNvSpPr>
            <a:spLocks noGrp="1"/>
          </p:cNvSpPr>
          <p:nvPr>
            <p:ph idx="1"/>
          </p:nvPr>
        </p:nvSpPr>
        <p:spPr/>
        <p:txBody>
          <a:bodyPr/>
          <a:lstStyle/>
          <a:p>
            <a:pPr lvl="0" indent="0" marL="0">
              <a:buNone/>
            </a:pPr>
            <a:r>
              <a:rPr/>
              <a:t>바쁜 직장인들을 위한 밤도깨비 여행은 금요일 퇴근 후 하네다 공항을 통해 입국하여 시간을 최대한 활용하는 방식이 인기입니다. 하네다 공항은 도심과의 접근성이 뛰어나며 심야 시간에도 운영되는 교통편과 숙소들이 마련되어 있습니다.</a:t>
            </a:r>
          </a:p>
          <a:p>
            <a:pPr lvl="0"/>
            <a:r>
              <a:rPr b="1"/>
              <a:t>심야 공항 버스 활용</a:t>
            </a:r>
            <a:r>
              <a:rPr/>
              <a:t>: 하네다 공항에서 신주쿠역까지 새벽 1시 이후에도 심야 편도 버스가 운행되어 늦은 밤 도착 후에도 도심 진입이 가능함.</a:t>
            </a:r>
          </a:p>
          <a:p>
            <a:pPr lvl="0"/>
            <a:r>
              <a:rPr b="1"/>
              <a:t>공항 인근 비즈니스 호텔</a:t>
            </a:r>
            <a:r>
              <a:rPr/>
              <a:t>: 하네다 공항 무료 셔틀을 운영하고 24시간 프런트 데스크를 운영하는 ‘호텔 JAL 시티’ 등 편리한 숙박 시설이 존재함.</a:t>
            </a:r>
          </a:p>
          <a:p>
            <a:pPr lvl="0"/>
            <a:r>
              <a:rPr b="1"/>
              <a:t>24시간 운영 시설 탐방</a:t>
            </a:r>
            <a:r>
              <a:rPr/>
              <a:t>: 밤늦게 도착한 경우 신주쿠의 24시 라멘집이나 마트를 이용해 현지 분위기를 즐기며 첫날 일정을 시작할 수 있음.</a:t>
            </a:r>
          </a:p>
          <a:p>
            <a:pPr lvl="0"/>
            <a:r>
              <a:rPr b="1"/>
              <a:t>체력 안배를 위한 전략</a:t>
            </a:r>
            <a:r>
              <a:rPr/>
              <a:t>: 연차 사용 없이 즐기는 2박 4일 일정은 이동 시간을 최소화하고 주요 거점인 신주쿠나 시부야 위주로 동선을 짜는 것이 좋음.</a:t>
            </a:r>
          </a:p>
          <a:p>
            <a:pPr lvl="0"/>
            <a:r>
              <a:rPr b="1"/>
              <a:t>귀국 전 시간 활용</a:t>
            </a:r>
            <a:r>
              <a:rPr/>
              <a:t>: 마지막 날 밤 11시 이후에도 공항으로 향하는 버스가 운행되므로 월요일 새벽 귀국 직전까지 도심 관광을 만끽함.</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5. 도쿄 숙소 위치 선정을 위한 지역별 가이드</a:t>
            </a:r>
          </a:p>
        </p:txBody>
      </p:sp>
      <p:sp>
        <p:nvSpPr>
          <p:cNvPr id="4" name="Text Placeholder 3"/>
          <p:cNvSpPr>
            <a:spLocks noGrp="1"/>
          </p:cNvSpPr>
          <p:nvPr>
            <p:ph idx="2" sz="half" type="body"/>
          </p:nvPr>
        </p:nvSpPr>
        <p:spPr/>
        <p:txBody>
          <a:bodyPr/>
          <a:lstStyle/>
          <a:p>
            <a:pPr lvl="0" indent="0" marL="0">
              <a:buNone/>
            </a:pPr>
            <a:r>
              <a:rPr/>
              <a:t>도쿄의 숙소 위치는 여행 동선과 비용을 결정짓는 가장 중요한 요소이며, 주요 지역별로 뚜렷한 특징과 장단점이 나뉩니다. 신주쿠는 대중교통의 중심지로, 우에노는 공항 접근성과 문화 시설 위주로 각기 다른 매력을 제공합니다.</a:t>
            </a:r>
          </a:p>
          <a:p>
            <a:pPr lvl="0" indent="0" marL="0">
              <a:buNone/>
            </a:pPr>
            <a:r>
              <a:rPr b="1"/>
              <a:t>[표 2] 도쿄 주요 숙박 지역 특징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lgn="l">
                        <a:buNone/>
                      </a:pPr>
                      <a:r>
                        <a:rPr/>
                        <a:t>순위</a:t>
                      </a:r>
                    </a:p>
                  </a:txBody>
                  <a:tcPr/>
                </a:tc>
                <a:tc>
                  <a:txBody>
                    <a:bodyPr/>
                    <a:lstStyle/>
                    <a:p>
                      <a:pPr lvl="0" indent="0" marL="0" algn="l">
                        <a:buNone/>
                      </a:pPr>
                      <a:r>
                        <a:rPr/>
                        <a:t>지역명</a:t>
                      </a:r>
                    </a:p>
                  </a:txBody>
                  <a:tcPr/>
                </a:tc>
                <a:tc>
                  <a:txBody>
                    <a:bodyPr/>
                    <a:lstStyle/>
                    <a:p>
                      <a:pPr lvl="0" indent="0" marL="0" algn="l">
                        <a:buNone/>
                      </a:pPr>
                      <a:r>
                        <a:rPr/>
                        <a:t>장점</a:t>
                      </a:r>
                    </a:p>
                  </a:txBody>
                  <a:tcPr/>
                </a:tc>
                <a:tc>
                  <a:txBody>
                    <a:bodyPr/>
                    <a:lstStyle/>
                    <a:p>
                      <a:pPr lvl="0" indent="0" marL="0" algn="l">
                        <a:buNone/>
                      </a:pPr>
                      <a:r>
                        <a:rPr/>
                        <a:t>단점</a:t>
                      </a:r>
                    </a:p>
                  </a:txBody>
                  <a:tcPr/>
                </a:tc>
                <a:tc>
                  <a:txBody>
                    <a:bodyPr/>
                    <a:lstStyle/>
                    <a:p>
                      <a:pPr lvl="0" indent="0" marL="0" algn="l">
                        <a:buNone/>
                      </a:pPr>
                      <a:r>
                        <a:rPr/>
                        <a:t>추천 여행자</a:t>
                      </a:r>
                    </a:p>
                  </a:txBody>
                  <a:tcPr/>
                </a:tc>
              </a:tr>
              <a:tr h="0">
                <a:tc>
                  <a:txBody>
                    <a:bodyPr/>
                    <a:lstStyle/>
                    <a:p>
                      <a:pPr lvl="0" indent="0" marL="0" algn="l">
                        <a:buNone/>
                      </a:pPr>
                      <a:r>
                        <a:rPr b="1"/>
                        <a:t>1위</a:t>
                      </a:r>
                    </a:p>
                  </a:txBody>
                </a:tc>
                <a:tc>
                  <a:txBody>
                    <a:bodyPr/>
                    <a:lstStyle/>
                    <a:p>
                      <a:pPr lvl="0" indent="0" marL="0" algn="l">
                        <a:buNone/>
                      </a:pPr>
                      <a:r>
                        <a:rPr b="1"/>
                        <a:t>신주쿠</a:t>
                      </a:r>
                    </a:p>
                  </a:txBody>
                </a:tc>
                <a:tc>
                  <a:txBody>
                    <a:bodyPr/>
                    <a:lstStyle/>
                    <a:p>
                      <a:pPr lvl="0" indent="0" marL="0" algn="l">
                        <a:buNone/>
                      </a:pPr>
                      <a:r>
                        <a:rPr/>
                        <a:t>교통의 요지, 밤문화 발달</a:t>
                      </a:r>
                    </a:p>
                  </a:txBody>
                </a:tc>
                <a:tc>
                  <a:txBody>
                    <a:bodyPr/>
                    <a:lstStyle/>
                    <a:p>
                      <a:pPr lvl="0" indent="0" marL="0" algn="l">
                        <a:buNone/>
                      </a:pPr>
                      <a:r>
                        <a:rPr/>
                        <a:t>복잡한 역 구조, 인파</a:t>
                      </a:r>
                    </a:p>
                  </a:txBody>
                </a:tc>
                <a:tc>
                  <a:txBody>
                    <a:bodyPr/>
                    <a:lstStyle/>
                    <a:p>
                      <a:pPr lvl="0" indent="0" marL="0" algn="l">
                        <a:buNone/>
                      </a:pPr>
                      <a:r>
                        <a:rPr/>
                        <a:t>근교 여행 병행자</a:t>
                      </a:r>
                    </a:p>
                  </a:txBody>
                </a:tc>
              </a:tr>
              <a:tr h="0">
                <a:tc>
                  <a:txBody>
                    <a:bodyPr/>
                    <a:lstStyle/>
                    <a:p>
                      <a:pPr lvl="0" indent="0" marL="0" algn="l">
                        <a:buNone/>
                      </a:pPr>
                      <a:r>
                        <a:rPr b="1"/>
                        <a:t>2위</a:t>
                      </a:r>
                    </a:p>
                  </a:txBody>
                </a:tc>
                <a:tc>
                  <a:txBody>
                    <a:bodyPr/>
                    <a:lstStyle/>
                    <a:p>
                      <a:pPr lvl="0" indent="0" marL="0" algn="l">
                        <a:buNone/>
                      </a:pPr>
                      <a:r>
                        <a:rPr b="1"/>
                        <a:t>도쿄/긴자</a:t>
                      </a:r>
                    </a:p>
                  </a:txBody>
                </a:tc>
                <a:tc>
                  <a:txBody>
                    <a:bodyPr/>
                    <a:lstStyle/>
                    <a:p>
                      <a:pPr lvl="0" indent="0" marL="0" algn="l">
                        <a:buNone/>
                      </a:pPr>
                      <a:r>
                        <a:rPr/>
                        <a:t>고급스러움, 공항 근접</a:t>
                      </a:r>
                    </a:p>
                  </a:txBody>
                </a:tc>
                <a:tc>
                  <a:txBody>
                    <a:bodyPr/>
                    <a:lstStyle/>
                    <a:p>
                      <a:pPr lvl="0" indent="0" marL="0" algn="l">
                        <a:buNone/>
                      </a:pPr>
                      <a:r>
                        <a:rPr/>
                        <a:t>높은 숙박 비용, 교통비</a:t>
                      </a:r>
                    </a:p>
                  </a:txBody>
                </a:tc>
                <a:tc>
                  <a:txBody>
                    <a:bodyPr/>
                    <a:lstStyle/>
                    <a:p>
                      <a:pPr lvl="0" indent="0" marL="0" algn="l">
                        <a:buNone/>
                      </a:pPr>
                      <a:r>
                        <a:rPr/>
                        <a:t>쇼핑 및 럭셔리 휴가</a:t>
                      </a:r>
                    </a:p>
                  </a:txBody>
                </a:tc>
              </a:tr>
              <a:tr h="0">
                <a:tc>
                  <a:txBody>
                    <a:bodyPr/>
                    <a:lstStyle/>
                    <a:p>
                      <a:pPr lvl="0" indent="0" marL="0" algn="l">
                        <a:buNone/>
                      </a:pPr>
                      <a:r>
                        <a:rPr b="1"/>
                        <a:t>3위</a:t>
                      </a:r>
                    </a:p>
                  </a:txBody>
                </a:tc>
                <a:tc>
                  <a:txBody>
                    <a:bodyPr/>
                    <a:lstStyle/>
                    <a:p>
                      <a:pPr lvl="0" indent="0" marL="0" algn="l">
                        <a:buNone/>
                      </a:pPr>
                      <a:r>
                        <a:rPr b="1"/>
                        <a:t>우에노/아사쿠사</a:t>
                      </a:r>
                    </a:p>
                  </a:txBody>
                </a:tc>
                <a:tc>
                  <a:txBody>
                    <a:bodyPr/>
                    <a:lstStyle/>
                    <a:p>
                      <a:pPr lvl="0" indent="0" marL="0" algn="l">
                        <a:buNone/>
                      </a:pPr>
                      <a:r>
                        <a:rPr/>
                        <a:t>저렴한 물가, 관광지 밀집</a:t>
                      </a:r>
                    </a:p>
                  </a:txBody>
                </a:tc>
                <a:tc>
                  <a:txBody>
                    <a:bodyPr/>
                    <a:lstStyle/>
                    <a:p>
                      <a:pPr lvl="0" indent="0" marL="0" algn="l">
                        <a:buNone/>
                      </a:pPr>
                      <a:r>
                        <a:rPr/>
                        <a:t>밤시간 유흥 부족</a:t>
                      </a:r>
                    </a:p>
                  </a:txBody>
                </a:tc>
                <a:tc>
                  <a:txBody>
                    <a:bodyPr/>
                    <a:lstStyle/>
                    <a:p>
                      <a:pPr lvl="0" indent="0" marL="0" algn="l">
                        <a:buNone/>
                      </a:pPr>
                      <a:r>
                        <a:rPr/>
                        <a:t>도쿄 초보 여행자</a:t>
                      </a:r>
                    </a:p>
                  </a:txBody>
                </a:tc>
              </a:tr>
              <a:tr h="0">
                <a:tc>
                  <a:txBody>
                    <a:bodyPr/>
                    <a:lstStyle/>
                    <a:p>
                      <a:pPr lvl="0" indent="0" marL="0" algn="l">
                        <a:buNone/>
                      </a:pPr>
                      <a:r>
                        <a:rPr b="1"/>
                        <a:t>4위</a:t>
                      </a:r>
                    </a:p>
                  </a:txBody>
                </a:tc>
                <a:tc>
                  <a:txBody>
                    <a:bodyPr/>
                    <a:lstStyle/>
                    <a:p>
                      <a:pPr lvl="0" indent="0" marL="0" algn="l">
                        <a:buNone/>
                      </a:pPr>
                      <a:r>
                        <a:rPr b="1"/>
                        <a:t>시부야</a:t>
                      </a:r>
                    </a:p>
                  </a:txBody>
                </a:tc>
                <a:tc>
                  <a:txBody>
                    <a:bodyPr/>
                    <a:lstStyle/>
                    <a:p>
                      <a:pPr lvl="0" indent="0" marL="0" algn="l">
                        <a:buNone/>
                      </a:pPr>
                      <a:r>
                        <a:rPr/>
                        <a:t>젊은 감각, 편집샵 쇼핑</a:t>
                      </a:r>
                    </a:p>
                  </a:txBody>
                </a:tc>
                <a:tc>
                  <a:txBody>
                    <a:bodyPr/>
                    <a:lstStyle/>
                    <a:p>
                      <a:pPr lvl="0" indent="0" marL="0" algn="l">
                        <a:buNone/>
                      </a:pPr>
                      <a:r>
                        <a:rPr/>
                        <a:t>공항 접근성 불편</a:t>
                      </a:r>
                    </a:p>
                  </a:txBody>
                </a:tc>
                <a:tc>
                  <a:txBody>
                    <a:bodyPr/>
                    <a:lstStyle/>
                    <a:p>
                      <a:pPr lvl="0" indent="0" marL="0" algn="l">
                        <a:buNone/>
                      </a:pPr>
                      <a:r>
                        <a:rPr/>
                        <a:t>힙한 감성 추구자</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교통의 심장 신주쿠</a:t>
            </a:r>
            <a:r>
              <a:rPr/>
              <a:t>: JR 야마노테선과 지하철이 교차하여 도쿄 전역과 요코하마, 가마쿠라 등 근교로 떠나기에 가장 유리한 위치임.</a:t>
            </a:r>
          </a:p>
          <a:p>
            <a:pPr lvl="0"/>
            <a:r>
              <a:rPr b="1"/>
              <a:t>초보자에게 적합한 우에노</a:t>
            </a:r>
            <a:r>
              <a:rPr/>
              <a:t>: 스카이라이너를 이용해 나리타 공항에서 빠르게 올 수 있으며 공원과 시장이 있어 산책하기 매우 좋은 환경임.</a:t>
            </a:r>
          </a:p>
          <a:p>
            <a:pPr lvl="0"/>
            <a:r>
              <a:rPr b="1"/>
              <a:t>쇼핑 중심지 긴자와 도쿄</a:t>
            </a:r>
            <a:r>
              <a:rPr/>
              <a:t>: 신칸센 이용이 편리하고 명품 거리와 고급 디저트 카페가 많아 풍요로운 도시 생활을 경험하기에 최적임.</a:t>
            </a:r>
          </a:p>
          <a:p>
            <a:pPr lvl="0"/>
            <a:r>
              <a:rPr b="1"/>
              <a:t>트렌디한 시부야와 하라주쿠</a:t>
            </a:r>
            <a:r>
              <a:rPr/>
              <a:t>: 일본의 현대 디자인과 스트리트 패션을 가장 가까이서 느낄 수 있으나 공항 이동 시간이 길어질 수 있음에 유의함.</a:t>
            </a:r>
          </a:p>
          <a:p>
            <a:pPr lvl="0"/>
            <a:r>
              <a:rPr b="1"/>
              <a:t>예산 기반의 선택</a:t>
            </a:r>
            <a:r>
              <a:rPr/>
              <a:t>: 혼자 여행할 경우 1박 6~12만 원 내외의 비즈니스 호텔이나 캡슐호텔이 밀집한 신주쿠나 우에노 지역을 우선 고려함.</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도쿄 2박 3일 추천 일정: 1일차 (현대적 도심 탐방)</a:t>
            </a:r>
          </a:p>
        </p:txBody>
      </p:sp>
      <p:sp>
        <p:nvSpPr>
          <p:cNvPr id="3" name="Content Placeholder 2"/>
          <p:cNvSpPr>
            <a:spLocks noGrp="1"/>
          </p:cNvSpPr>
          <p:nvPr>
            <p:ph idx="1"/>
          </p:nvPr>
        </p:nvSpPr>
        <p:spPr/>
        <p:txBody>
          <a:bodyPr/>
          <a:lstStyle/>
          <a:p>
            <a:pPr lvl="0" indent="0" marL="0">
              <a:buNone/>
            </a:pPr>
            <a:r>
              <a:rPr/>
              <a:t>첫째 날은 도쿄의 상징적인 중심지를 돌며 화려한 네온사인과 쇼핑의 활기를 느끼는 코스로 구성하는 것이 좋습니다. 공항에서 접근성이 좋은 신주쿠를 기점으로 이동하며 도쿄의 에너지를 경험합니다.</a:t>
            </a:r>
          </a:p>
          <a:p>
            <a:pPr lvl="0"/>
            <a:r>
              <a:rPr b="1"/>
              <a:t>신주쿠에서의 시작</a:t>
            </a:r>
            <a:r>
              <a:rPr/>
              <a:t>: 공항에서 시내 도착 후 교통이 편리한 신주쿠에 짐을 풀고 모자이크 도오리와 고양이 스크린 등 명소를 둘러봄.</a:t>
            </a:r>
          </a:p>
          <a:p>
            <a:pPr lvl="0"/>
            <a:r>
              <a:rPr b="1"/>
              <a:t>오타쿠의 성지 아키하바라</a:t>
            </a:r>
            <a:r>
              <a:rPr/>
              <a:t>: 오전 중 전자제품과 만화, 게임 문화가 집약된 아키하바라를 방문하여 일본 특유의 서브컬처를 경험함.</a:t>
            </a:r>
          </a:p>
          <a:p>
            <a:pPr lvl="0"/>
            <a:r>
              <a:rPr b="1"/>
              <a:t>긴자 명품 거리 산책</a:t>
            </a:r>
            <a:r>
              <a:rPr/>
              <a:t>: 세련된 패션 취향을 가진 이들이 모이는 긴자에서 글로벌 브랜드 매장과 노포 백화점을 구경하며 상류층의 삶을 엿봄.</a:t>
            </a:r>
          </a:p>
          <a:p>
            <a:pPr lvl="0"/>
            <a:r>
              <a:rPr b="1"/>
              <a:t>무료 전망대의 매력</a:t>
            </a:r>
            <a:r>
              <a:rPr/>
              <a:t>: 저녁 시간에는 도쿄 메트로폴리탄 정부 빌딩(도청)에 방문하여 도쿄 시내의 탁 트인 야경을 무료로 감상함.</a:t>
            </a:r>
          </a:p>
          <a:p>
            <a:pPr lvl="0"/>
            <a:r>
              <a:rPr b="1"/>
              <a:t>밤의 열기 가부키초</a:t>
            </a:r>
            <a:r>
              <a:rPr/>
              <a:t>: 신주쿠의 대표적인 번화가인 가부키초의 네온사인을 구경하고 이자카야에서 현지 요리와 맥주를 즐기며 하루를 마무리함.</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도쿄 2박 3일 추천 일정: 2일차 (전통과 트렌드의 조화)</a:t>
            </a:r>
          </a:p>
        </p:txBody>
      </p:sp>
      <p:sp>
        <p:nvSpPr>
          <p:cNvPr id="3" name="Content Placeholder 2"/>
          <p:cNvSpPr>
            <a:spLocks noGrp="1"/>
          </p:cNvSpPr>
          <p:nvPr>
            <p:ph idx="1"/>
          </p:nvPr>
        </p:nvSpPr>
        <p:spPr/>
        <p:txBody>
          <a:bodyPr/>
          <a:lstStyle/>
          <a:p>
            <a:pPr lvl="0" indent="0" marL="0">
              <a:buNone/>
            </a:pPr>
            <a:r>
              <a:rPr/>
              <a:t>둘째 날은 일본 고유의 전통미를 간직한 장소와 세계적으로 유명한 패션과 문화의 발신지를 교차하여 방문하는 일정입니다. 아사쿠사에서 시작해 하라주쿠와 시부야로 이어지는 동선이 효율적입니다.</a:t>
            </a:r>
          </a:p>
          <a:p>
            <a:pPr lvl="0"/>
            <a:r>
              <a:rPr b="1"/>
              <a:t>아사쿠사 센소지 참배</a:t>
            </a:r>
            <a:r>
              <a:rPr/>
              <a:t>: 도쿄에서 가장 오래된 절인 센소지의 카미나리몬을 통과하며 나카미세 거리에서 전통 군것질을 즐기고 출사를 진행함.</a:t>
            </a:r>
          </a:p>
          <a:p>
            <a:pPr lvl="0"/>
            <a:r>
              <a:rPr b="1"/>
              <a:t>스카이트리의 위용</a:t>
            </a:r>
            <a:r>
              <a:rPr/>
              <a:t>: 아사쿠사에서 도보로 스미다 강을 건너 일본에서 가장 높은 전망대인 도쿄 스카이트리에 올라 시내 전경을 한눈에 담음.</a:t>
            </a:r>
          </a:p>
          <a:p>
            <a:pPr lvl="0"/>
            <a:r>
              <a:rPr b="1"/>
              <a:t>메이지 신궁의 고요함</a:t>
            </a:r>
            <a:r>
              <a:rPr/>
              <a:t>: 하라주쿠역 인근의 울창한 숲속 길을 걸으며 도심 속에서 평화로운 자연을 만끽하고 일본 황실의 신궁 문화를 체험함.</a:t>
            </a:r>
          </a:p>
          <a:p>
            <a:pPr lvl="0"/>
            <a:r>
              <a:rPr b="1"/>
              <a:t>하라주쿠 다케시타 거리</a:t>
            </a:r>
            <a:r>
              <a:rPr/>
              <a:t>: 개성 넘치는 의류 매장과 코스튬 전문점이 즐비한 거리를 구경하고 하라주쿠 명물인 크레페를 맛보며 쇼핑을 즐김.</a:t>
            </a:r>
          </a:p>
          <a:p>
            <a:pPr lvl="0"/>
            <a:r>
              <a:rPr b="1"/>
              <a:t>시부야 스크램블 교차로</a:t>
            </a:r>
            <a:r>
              <a:rPr/>
              <a:t>: 세계에서 가장 붐비는 횡단보도를 직접 건너보고 근처 빌딩 전망대에서 엄청난 인파가 움직이는 진풍경을 감상함.</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도쿄 2박 3일 추천 일정: 3일차 (여유로운 마무리 및 쇼핑)</a:t>
            </a:r>
          </a:p>
        </p:txBody>
      </p:sp>
      <p:sp>
        <p:nvSpPr>
          <p:cNvPr id="3" name="Content Placeholder 2"/>
          <p:cNvSpPr>
            <a:spLocks noGrp="1"/>
          </p:cNvSpPr>
          <p:nvPr>
            <p:ph idx="1"/>
          </p:nvPr>
        </p:nvSpPr>
        <p:spPr/>
        <p:txBody>
          <a:bodyPr/>
          <a:lstStyle/>
          <a:p>
            <a:pPr lvl="0" indent="0" marL="0">
              <a:buNone/>
            </a:pPr>
            <a:r>
              <a:rPr/>
              <a:t>마지막 날은 귀국 시간을 고려하여 무리한 이동보다는 여유로운 산책과 기념품 쇼핑에 집중하는 것이 바람직합니다. 오다이바의 해변 공원이나 도심 속 휴식처를 찾아 여행을 정리합니다.</a:t>
            </a:r>
          </a:p>
          <a:p>
            <a:pPr lvl="0"/>
            <a:r>
              <a:rPr b="1"/>
              <a:t>오다이바 해변 산책</a:t>
            </a:r>
            <a:r>
              <a:rPr/>
              <a:t>: 인공 섬인 오다이바에서 레인보우 브리지와 자유의 여신상을 배경으로 사진을 찍고 해변 공원을 여유롭게 걸음.</a:t>
            </a:r>
          </a:p>
          <a:p>
            <a:pPr lvl="0"/>
            <a:r>
              <a:rPr b="1"/>
              <a:t>실물 크기 건담 관람</a:t>
            </a:r>
            <a:r>
              <a:rPr/>
              <a:t>: 다이바시티 앞에 세워진 거대한 유니콘 건담 동상을 직접 확인하며 정교한 기술력과 웅장함을 직접 눈으로 확인함.</a:t>
            </a:r>
          </a:p>
          <a:p>
            <a:pPr lvl="0"/>
            <a:r>
              <a:rPr b="1"/>
              <a:t>츠키지 외부 시장 미식</a:t>
            </a:r>
            <a:r>
              <a:rPr/>
              <a:t>: 아침 일찍 신선한 해산물과 초밥으로 유명한 츠키지 시장을 방문하여 일본 최고의 수산물 요리를 맛봄.</a:t>
            </a:r>
          </a:p>
          <a:p>
            <a:pPr lvl="0"/>
            <a:r>
              <a:rPr b="1"/>
              <a:t>역 주변 기념품 쇼핑</a:t>
            </a:r>
            <a:r>
              <a:rPr/>
              <a:t>: 도쿄역이나 긴자 주변의 백화점 지하 식품 코너(데파치카)에 들러 가족과 지인들에게 선물할 한정판 과자 등을 구매함.</a:t>
            </a:r>
          </a:p>
          <a:p>
            <a:pPr lvl="0"/>
            <a:r>
              <a:rPr b="1"/>
              <a:t>공항으로의 차분한 이동</a:t>
            </a:r>
            <a:r>
              <a:rPr/>
              <a:t>: 비행기 출발 최소 3시간 전에는 공항에 도착할 수 있도록 나리타 익스프레스나 리무진 버스 시간을 미리 체크하여 이동함.</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9. 나 홀로 여행자를 위한 도쿄 2박 3일 예상 경비</a:t>
            </a:r>
          </a:p>
        </p:txBody>
      </p:sp>
      <p:sp>
        <p:nvSpPr>
          <p:cNvPr id="4" name="Text Placeholder 3"/>
          <p:cNvSpPr>
            <a:spLocks noGrp="1"/>
          </p:cNvSpPr>
          <p:nvPr>
            <p:ph idx="2" sz="half" type="body"/>
          </p:nvPr>
        </p:nvSpPr>
        <p:spPr/>
        <p:txBody>
          <a:bodyPr/>
          <a:lstStyle/>
          <a:p>
            <a:pPr lvl="0" indent="0" marL="0">
              <a:buNone/>
            </a:pPr>
            <a:r>
              <a:rPr/>
              <a:t>혼자 떠나는 도쿄 여행은 자신의 속도에 맞춰 예산을 조절할 수 있는 장점이 있으며, 하루 약 10~12만 원 정도의 경비면 충분히 알찬 여행이 가능합니다. 항공권과 숙소 비용은 시기별로 차이가 크므로 사전 예약을 통해 비용을 절감하는 것이 핵심입니다.</a:t>
            </a:r>
          </a:p>
          <a:p>
            <a:pPr lvl="0" indent="0" marL="0">
              <a:buNone/>
            </a:pPr>
            <a:r>
              <a:rPr b="1"/>
              <a:t>[표 3] 혼자 떠나는 도쿄 2박 3일 예상 예산</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항목</a:t>
                      </a:r>
                    </a:p>
                  </a:txBody>
                  <a:tcPr/>
                </a:tc>
                <a:tc>
                  <a:txBody>
                    <a:bodyPr/>
                    <a:lstStyle/>
                    <a:p>
                      <a:pPr lvl="0" indent="0" marL="0" algn="l">
                        <a:buNone/>
                      </a:pPr>
                      <a:r>
                        <a:rPr/>
                        <a:t>예상 비용 (2박 3일 기준)</a:t>
                      </a:r>
                    </a:p>
                  </a:txBody>
                  <a:tcPr/>
                </a:tc>
                <a:tc>
                  <a:txBody>
                    <a:bodyPr/>
                    <a:lstStyle/>
                    <a:p>
                      <a:pPr lvl="0" indent="0" marL="0" algn="l">
                        <a:buNone/>
                      </a:pPr>
                      <a:r>
                        <a:rPr/>
                        <a:t>비고</a:t>
                      </a:r>
                    </a:p>
                  </a:txBody>
                  <a:tcPr/>
                </a:tc>
              </a:tr>
              <a:tr h="0">
                <a:tc>
                  <a:txBody>
                    <a:bodyPr/>
                    <a:lstStyle/>
                    <a:p>
                      <a:pPr lvl="0" indent="0" marL="0" algn="l">
                        <a:buNone/>
                      </a:pPr>
                      <a:r>
                        <a:rPr b="1"/>
                        <a:t>항공권</a:t>
                      </a:r>
                    </a:p>
                  </a:txBody>
                </a:tc>
                <a:tc>
                  <a:txBody>
                    <a:bodyPr/>
                    <a:lstStyle/>
                    <a:p>
                      <a:pPr lvl="0" indent="0" marL="0" algn="l">
                        <a:buNone/>
                      </a:pPr>
                      <a:r>
                        <a:rPr/>
                        <a:t>약 30~50만 원</a:t>
                      </a:r>
                    </a:p>
                  </a:txBody>
                </a:tc>
                <a:tc>
                  <a:txBody>
                    <a:bodyPr/>
                    <a:lstStyle/>
                    <a:p>
                      <a:pPr lvl="0" indent="0" marL="0" algn="l">
                        <a:buNone/>
                      </a:pPr>
                      <a:r>
                        <a:rPr/>
                        <a:t>왕복 기준, 저가 항공 활용 시 절감 가능</a:t>
                      </a:r>
                    </a:p>
                  </a:txBody>
                </a:tc>
              </a:tr>
              <a:tr h="0">
                <a:tc>
                  <a:txBody>
                    <a:bodyPr/>
                    <a:lstStyle/>
                    <a:p>
                      <a:pPr lvl="0" indent="0" marL="0" algn="l">
                        <a:buNone/>
                      </a:pPr>
                      <a:r>
                        <a:rPr b="1"/>
                        <a:t>숙소</a:t>
                      </a:r>
                    </a:p>
                  </a:txBody>
                </a:tc>
                <a:tc>
                  <a:txBody>
                    <a:bodyPr/>
                    <a:lstStyle/>
                    <a:p>
                      <a:pPr lvl="0" indent="0" marL="0" algn="l">
                        <a:buNone/>
                      </a:pPr>
                      <a:r>
                        <a:rPr/>
                        <a:t>약 12~20만 원</a:t>
                      </a:r>
                    </a:p>
                  </a:txBody>
                </a:tc>
                <a:tc>
                  <a:txBody>
                    <a:bodyPr/>
                    <a:lstStyle/>
                    <a:p>
                      <a:pPr lvl="0" indent="0" marL="0" algn="l">
                        <a:buNone/>
                      </a:pPr>
                      <a:r>
                        <a:rPr/>
                        <a:t>비즈니스 호텔 또는 캡슐 호텔 기준</a:t>
                      </a:r>
                    </a:p>
                  </a:txBody>
                </a:tc>
              </a:tr>
              <a:tr h="0">
                <a:tc>
                  <a:txBody>
                    <a:bodyPr/>
                    <a:lstStyle/>
                    <a:p>
                      <a:pPr lvl="0" indent="0" marL="0" algn="l">
                        <a:buNone/>
                      </a:pPr>
                      <a:r>
                        <a:rPr b="1"/>
                        <a:t>교통비</a:t>
                      </a:r>
                    </a:p>
                  </a:txBody>
                </a:tc>
                <a:tc>
                  <a:txBody>
                    <a:bodyPr/>
                    <a:lstStyle/>
                    <a:p>
                      <a:pPr lvl="0" indent="0" marL="0" algn="l">
                        <a:buNone/>
                      </a:pPr>
                      <a:r>
                        <a:rPr/>
                        <a:t>약 3~5만 원</a:t>
                      </a:r>
                    </a:p>
                  </a:txBody>
                </a:tc>
                <a:tc>
                  <a:txBody>
                    <a:bodyPr/>
                    <a:lstStyle/>
                    <a:p>
                      <a:pPr lvl="0" indent="0" marL="0" algn="l">
                        <a:buNone/>
                      </a:pPr>
                      <a:r>
                        <a:rPr/>
                        <a:t>지하철 패스 및 충전식 카드 활용</a:t>
                      </a:r>
                    </a:p>
                  </a:txBody>
                </a:tc>
              </a:tr>
              <a:tr h="0">
                <a:tc>
                  <a:txBody>
                    <a:bodyPr/>
                    <a:lstStyle/>
                    <a:p>
                      <a:pPr lvl="0" indent="0" marL="0" algn="l">
                        <a:buNone/>
                      </a:pPr>
                      <a:r>
                        <a:rPr b="1"/>
                        <a:t>식비</a:t>
                      </a:r>
                    </a:p>
                  </a:txBody>
                </a:tc>
                <a:tc>
                  <a:txBody>
                    <a:bodyPr/>
                    <a:lstStyle/>
                    <a:p>
                      <a:pPr lvl="0" indent="0" marL="0" algn="l">
                        <a:buNone/>
                      </a:pPr>
                      <a:r>
                        <a:rPr/>
                        <a:t>약 10~15만 원</a:t>
                      </a:r>
                    </a:p>
                  </a:txBody>
                </a:tc>
                <a:tc>
                  <a:txBody>
                    <a:bodyPr/>
                    <a:lstStyle/>
                    <a:p>
                      <a:pPr lvl="0" indent="0" marL="0" algn="l">
                        <a:buNone/>
                      </a:pPr>
                      <a:r>
                        <a:rPr/>
                        <a:t>하루 2~3만 원 + 간식비 포함</a:t>
                      </a:r>
                    </a:p>
                  </a:txBody>
                </a:tc>
              </a:tr>
              <a:tr h="0">
                <a:tc>
                  <a:txBody>
                    <a:bodyPr/>
                    <a:lstStyle/>
                    <a:p>
                      <a:pPr lvl="0" indent="0" marL="0" algn="l">
                        <a:buNone/>
                      </a:pPr>
                      <a:r>
                        <a:rPr b="1"/>
                        <a:t>쇼핑 및 입장료</a:t>
                      </a:r>
                    </a:p>
                  </a:txBody>
                </a:tc>
                <a:tc>
                  <a:txBody>
                    <a:bodyPr/>
                    <a:lstStyle/>
                    <a:p>
                      <a:pPr lvl="0" indent="0" marL="0" algn="l">
                        <a:buNone/>
                      </a:pPr>
                      <a:r>
                        <a:rPr/>
                        <a:t>약 5~10만 원</a:t>
                      </a:r>
                    </a:p>
                  </a:txBody>
                </a:tc>
                <a:tc>
                  <a:txBody>
                    <a:bodyPr/>
                    <a:lstStyle/>
                    <a:p>
                      <a:pPr lvl="0" indent="0" marL="0" algn="l">
                        <a:buNone/>
                      </a:pPr>
                      <a:r>
                        <a:rPr/>
                        <a:t>관광지 입장권 및 기념품 구매비</a:t>
                      </a:r>
                    </a:p>
                  </a:txBody>
                </a:tc>
              </a:tr>
              <a:tr h="0">
                <a:tc>
                  <a:txBody>
                    <a:bodyPr/>
                    <a:lstStyle/>
                    <a:p>
                      <a:pPr lvl="0" indent="0" marL="0" algn="l">
                        <a:buNone/>
                      </a:pPr>
                      <a:r>
                        <a:rPr b="1"/>
                        <a:t>총계</a:t>
                      </a:r>
                    </a:p>
                  </a:txBody>
                </a:tc>
                <a:tc>
                  <a:txBody>
                    <a:bodyPr/>
                    <a:lstStyle/>
                    <a:p>
                      <a:pPr lvl="0" indent="0" marL="0" algn="l">
                        <a:buNone/>
                      </a:pPr>
                      <a:r>
                        <a:rPr b="1"/>
                        <a:t>약 60~90만 원</a:t>
                      </a:r>
                    </a:p>
                  </a:txBody>
                </a:tc>
                <a:tc>
                  <a:txBody>
                    <a:bodyPr/>
                    <a:lstStyle/>
                    <a:p>
                      <a:pPr lvl="0" indent="0" marL="0" algn="l">
                        <a:buNone/>
                      </a:pPr>
                      <a:r>
                        <a:rPr/>
                        <a:t>개인의 소비 성향에 따라 변동 가능</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식비의 효율적 운영</a:t>
            </a:r>
            <a:r>
              <a:rPr/>
              <a:t>: 도쿄의 평범한 한 끼는 1,000~2,000엔 사이로 해결 가능하며 우리나라 물가와 비교해 큰 부담이 없는 수준임.</a:t>
            </a:r>
          </a:p>
          <a:p>
            <a:pPr lvl="0"/>
            <a:r>
              <a:rPr b="1"/>
              <a:t>교통비 절약 전략</a:t>
            </a:r>
            <a:r>
              <a:rPr/>
              <a:t>: 도심 위주로 이동할 경우 ’도쿄 지하철 패스’를 24시간 단위로 구매하여 정해진 시간 동안 무제한 이용하는 것이 경제적임.</a:t>
            </a:r>
          </a:p>
          <a:p>
            <a:pPr lvl="0"/>
            <a:r>
              <a:rPr b="1"/>
              <a:t>입장료의 선택과 집중</a:t>
            </a:r>
            <a:r>
              <a:rPr/>
              <a:t>: 시부야 스카이나 스카이트리 같은 전망대는 사전 예매를 통해 할인을 받고 무료 전망대인 도청 등을 섞어서 방문함.</a:t>
            </a:r>
          </a:p>
          <a:p>
            <a:pPr lvl="0"/>
            <a:r>
              <a:rPr b="1"/>
              <a:t>현금 중심의 지출</a:t>
            </a:r>
            <a:r>
              <a:rPr/>
              <a:t>: 일부 작은 상점이나 오래된 식당은 여전히 카드 결제가 불가능하므로 비상시를 대비해 항상 현금을 소지하는 것이 중요함.</a:t>
            </a:r>
          </a:p>
          <a:p>
            <a:pPr lvl="0"/>
            <a:r>
              <a:rPr b="1"/>
              <a:t>항공권 특가 활용</a:t>
            </a:r>
            <a:r>
              <a:rPr/>
              <a:t>: 여행 플랫폼의 모바일 앱 전용 특가 상품이나 이벤트를 이용하면 성수기라도 비교적 저렴하게 항공권을 확보할 수 있음.</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 2025년 일본 여행 쇼핑 트렌드 및 인기 아이템</a:t>
            </a:r>
          </a:p>
        </p:txBody>
      </p:sp>
      <p:sp>
        <p:nvSpPr>
          <p:cNvPr id="4" name="Text Placeholder 3"/>
          <p:cNvSpPr>
            <a:spLocks noGrp="1"/>
          </p:cNvSpPr>
          <p:nvPr>
            <p:ph idx="2" sz="half" type="body"/>
          </p:nvPr>
        </p:nvSpPr>
        <p:spPr/>
        <p:txBody>
          <a:bodyPr/>
          <a:lstStyle/>
          <a:p>
            <a:pPr lvl="0" indent="0" marL="0">
              <a:buNone/>
            </a:pPr>
            <a:r>
              <a:rPr/>
              <a:t>2025년에는 실용성이 높은 생활 밀착형 아이템이 쇼핑 리스트의 중심을 차지하고 있습니다. 특히 국내에서 구하기 힘들거나 면세 혜택을 통해 가격 경쟁력을 갖춘 제품들이 여행객들 사이에서 필수 구매 품목으로 꼽힙니다.</a:t>
            </a:r>
          </a:p>
          <a:p>
            <a:pPr lvl="0" indent="0" marL="0">
              <a:buNone/>
            </a:pPr>
            <a:r>
              <a:rPr b="1"/>
              <a:t>[표 4] 2025년 도쿄 여행 인기 상위 5대 카테고리</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카테고리</a:t>
                      </a:r>
                    </a:p>
                  </a:txBody>
                  <a:tcPr/>
                </a:tc>
                <a:tc>
                  <a:txBody>
                    <a:bodyPr/>
                    <a:lstStyle/>
                    <a:p>
                      <a:pPr lvl="0" indent="0" marL="0" algn="l">
                        <a:buNone/>
                      </a:pPr>
                      <a:r>
                        <a:rPr/>
                        <a:t>대표 제품</a:t>
                      </a:r>
                    </a:p>
                  </a:txBody>
                  <a:tcPr/>
                </a:tc>
                <a:tc>
                  <a:txBody>
                    <a:bodyPr/>
                    <a:lstStyle/>
                    <a:p>
                      <a:pPr lvl="0" indent="0" marL="0" algn="l">
                        <a:buNone/>
                      </a:pPr>
                      <a:r>
                        <a:rPr/>
                        <a:t>가격대 (엔)</a:t>
                      </a:r>
                    </a:p>
                  </a:txBody>
                  <a:tcPr/>
                </a:tc>
                <a:tc>
                  <a:txBody>
                    <a:bodyPr/>
                    <a:lstStyle/>
                    <a:p>
                      <a:pPr lvl="0" indent="0" marL="0" algn="l">
                        <a:buNone/>
                      </a:pPr>
                      <a:r>
                        <a:rPr/>
                        <a:t>특징</a:t>
                      </a:r>
                    </a:p>
                  </a:txBody>
                  <a:tcPr/>
                </a:tc>
              </a:tr>
              <a:tr h="0">
                <a:tc>
                  <a:txBody>
                    <a:bodyPr/>
                    <a:lstStyle/>
                    <a:p>
                      <a:pPr lvl="0" indent="0" marL="0" algn="l">
                        <a:buNone/>
                      </a:pPr>
                      <a:r>
                        <a:rPr b="1"/>
                        <a:t>의약품</a:t>
                      </a:r>
                    </a:p>
                  </a:txBody>
                </a:tc>
                <a:tc>
                  <a:txBody>
                    <a:bodyPr/>
                    <a:lstStyle/>
                    <a:p>
                      <a:pPr lvl="0" indent="0" marL="0" algn="l">
                        <a:buNone/>
                      </a:pPr>
                      <a:r>
                        <a:rPr/>
                        <a:t>페어아크네 크림W</a:t>
                      </a:r>
                    </a:p>
                  </a:txBody>
                </a:tc>
                <a:tc>
                  <a:txBody>
                    <a:bodyPr/>
                    <a:lstStyle/>
                    <a:p>
                      <a:pPr lvl="0" indent="0" marL="0" algn="l">
                        <a:buNone/>
                      </a:pPr>
                      <a:r>
                        <a:rPr/>
                        <a:t>1,000 ~ 3,000</a:t>
                      </a:r>
                    </a:p>
                  </a:txBody>
                </a:tc>
                <a:tc>
                  <a:txBody>
                    <a:bodyPr/>
                    <a:lstStyle/>
                    <a:p>
                      <a:pPr lvl="0" indent="0" marL="0" algn="l">
                        <a:buNone/>
                      </a:pPr>
                      <a:r>
                        <a:rPr/>
                        <a:t>여드름 치료용 제2류 의약품</a:t>
                      </a:r>
                    </a:p>
                  </a:txBody>
                </a:tc>
              </a:tr>
              <a:tr h="0">
                <a:tc>
                  <a:txBody>
                    <a:bodyPr/>
                    <a:lstStyle/>
                    <a:p>
                      <a:pPr lvl="0" indent="0" marL="0" algn="l">
                        <a:buNone/>
                      </a:pPr>
                      <a:r>
                        <a:rPr b="1"/>
                        <a:t>생활용품</a:t>
                      </a:r>
                    </a:p>
                  </a:txBody>
                </a:tc>
                <a:tc>
                  <a:txBody>
                    <a:bodyPr/>
                    <a:lstStyle/>
                    <a:p>
                      <a:pPr lvl="0" indent="0" marL="0" algn="l">
                        <a:buNone/>
                      </a:pPr>
                      <a:r>
                        <a:rPr/>
                        <a:t>휴족시간 발 시트</a:t>
                      </a:r>
                    </a:p>
                  </a:txBody>
                </a:tc>
                <a:tc>
                  <a:txBody>
                    <a:bodyPr/>
                    <a:lstStyle/>
                    <a:p>
                      <a:pPr lvl="0" indent="0" marL="0" algn="l">
                        <a:buNone/>
                      </a:pPr>
                      <a:r>
                        <a:rPr/>
                        <a:t>500 ~ 1,500</a:t>
                      </a:r>
                    </a:p>
                  </a:txBody>
                </a:tc>
                <a:tc>
                  <a:txBody>
                    <a:bodyPr/>
                    <a:lstStyle/>
                    <a:p>
                      <a:pPr lvl="0" indent="0" marL="0" algn="l">
                        <a:buNone/>
                      </a:pPr>
                      <a:r>
                        <a:rPr/>
                        <a:t>여행 중 피로 회복에 탁월</a:t>
                      </a:r>
                    </a:p>
                  </a:txBody>
                </a:tc>
              </a:tr>
              <a:tr h="0">
                <a:tc>
                  <a:txBody>
                    <a:bodyPr/>
                    <a:lstStyle/>
                    <a:p>
                      <a:pPr lvl="0" indent="0" marL="0" algn="l">
                        <a:buNone/>
                      </a:pPr>
                      <a:r>
                        <a:rPr b="1"/>
                        <a:t>화장품</a:t>
                      </a:r>
                    </a:p>
                  </a:txBody>
                </a:tc>
                <a:tc>
                  <a:txBody>
                    <a:bodyPr/>
                    <a:lstStyle/>
                    <a:p>
                      <a:pPr lvl="0" indent="0" marL="0" algn="l">
                        <a:buNone/>
                      </a:pPr>
                      <a:r>
                        <a:rPr/>
                        <a:t>흰구름 마스크팩</a:t>
                      </a:r>
                    </a:p>
                  </a:txBody>
                </a:tc>
                <a:tc>
                  <a:txBody>
                    <a:bodyPr/>
                    <a:lstStyle/>
                    <a:p>
                      <a:pPr lvl="0" indent="0" marL="0" algn="l">
                        <a:buNone/>
                      </a:pPr>
                      <a:r>
                        <a:rPr/>
                        <a:t>800 ~ 2,000</a:t>
                      </a:r>
                    </a:p>
                  </a:txBody>
                </a:tc>
                <a:tc>
                  <a:txBody>
                    <a:bodyPr/>
                    <a:lstStyle/>
                    <a:p>
                      <a:pPr lvl="0" indent="0" marL="0" algn="l">
                        <a:buNone/>
                      </a:pPr>
                      <a:r>
                        <a:rPr/>
                        <a:t>고농도 비타민 함유 스킨케어</a:t>
                      </a:r>
                    </a:p>
                  </a:txBody>
                </a:tc>
              </a:tr>
              <a:tr h="0">
                <a:tc>
                  <a:txBody>
                    <a:bodyPr/>
                    <a:lstStyle/>
                    <a:p>
                      <a:pPr lvl="0" indent="0" marL="0" algn="l">
                        <a:buNone/>
                      </a:pPr>
                      <a:r>
                        <a:rPr b="1"/>
                        <a:t>간편식</a:t>
                      </a:r>
                    </a:p>
                  </a:txBody>
                </a:tc>
                <a:tc>
                  <a:txBody>
                    <a:bodyPr/>
                    <a:lstStyle/>
                    <a:p>
                      <a:pPr lvl="0" indent="0" marL="0" algn="l">
                        <a:buNone/>
                      </a:pPr>
                      <a:r>
                        <a:rPr/>
                        <a:t>닛신 야키소바 U.F.O</a:t>
                      </a:r>
                    </a:p>
                  </a:txBody>
                </a:tc>
                <a:tc>
                  <a:txBody>
                    <a:bodyPr/>
                    <a:lstStyle/>
                    <a:p>
                      <a:pPr lvl="0" indent="0" marL="0" algn="l">
                        <a:buNone/>
                      </a:pPr>
                      <a:r>
                        <a:rPr/>
                        <a:t>100 ~ 200</a:t>
                      </a:r>
                    </a:p>
                  </a:txBody>
                </a:tc>
                <a:tc>
                  <a:txBody>
                    <a:bodyPr/>
                    <a:lstStyle/>
                    <a:p>
                      <a:pPr lvl="0" indent="0" marL="0" algn="l">
                        <a:buNone/>
                      </a:pPr>
                      <a:r>
                        <a:rPr/>
                        <a:t>국내 미출시 인기 즉석 라면</a:t>
                      </a:r>
                    </a:p>
                  </a:txBody>
                </a:tc>
              </a:tr>
              <a:tr h="0">
                <a:tc>
                  <a:txBody>
                    <a:bodyPr/>
                    <a:lstStyle/>
                    <a:p>
                      <a:pPr lvl="0" indent="0" marL="0" algn="l">
                        <a:buNone/>
                      </a:pPr>
                      <a:r>
                        <a:rPr b="1"/>
                        <a:t>기념품</a:t>
                      </a:r>
                    </a:p>
                  </a:txBody>
                </a:tc>
                <a:tc>
                  <a:txBody>
                    <a:bodyPr/>
                    <a:lstStyle/>
                    <a:p>
                      <a:pPr lvl="0" indent="0" marL="0" algn="l">
                        <a:buNone/>
                      </a:pPr>
                      <a:r>
                        <a:rPr/>
                        <a:t>알포트 초콜릿</a:t>
                      </a:r>
                    </a:p>
                  </a:txBody>
                </a:tc>
                <a:tc>
                  <a:txBody>
                    <a:bodyPr/>
                    <a:lstStyle/>
                    <a:p>
                      <a:pPr lvl="0" indent="0" marL="0" algn="l">
                        <a:buNone/>
                      </a:pPr>
                      <a:r>
                        <a:rPr/>
                        <a:t>100</a:t>
                      </a:r>
                    </a:p>
                  </a:txBody>
                </a:tc>
                <a:tc>
                  <a:txBody>
                    <a:bodyPr/>
                    <a:lstStyle/>
                    <a:p>
                      <a:pPr lvl="0" indent="0" marL="0" algn="l">
                        <a:buNone/>
                      </a:pPr>
                      <a:r>
                        <a:rPr/>
                        <a:t>입에서 녹는 독특한 질감의 과자</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면세 혜택 적극 활용</a:t>
            </a:r>
            <a:r>
              <a:rPr/>
              <a:t>: 5,000엔 이상 구매 시 10% 소비세 면세를 받을 수 있으므로 여권을 항상 지참하고 한 번에 모아서 결제함.</a:t>
            </a:r>
          </a:p>
          <a:p>
            <a:pPr lvl="0"/>
            <a:r>
              <a:rPr b="1"/>
              <a:t>한정판 독점 제품 공략</a:t>
            </a:r>
            <a:r>
              <a:rPr/>
              <a:t>: 돈키호테나 미츠이 아울렛 등 특정 판매처에서만 취급하는 한정 아이템 정보를 사전에 입수하여 방문함.</a:t>
            </a:r>
          </a:p>
          <a:p>
            <a:pPr lvl="0"/>
            <a:r>
              <a:rPr b="1"/>
              <a:t>실물 확인의 중요성</a:t>
            </a:r>
            <a:r>
              <a:rPr/>
              <a:t>: 온라인 쇼핑보다 오프라인 매장에서 직접 소재감과 마감을 확인하고 구매할 수 있는 것이 오프라인 쇼핑의 큰 장점임.</a:t>
            </a:r>
          </a:p>
          <a:p>
            <a:pPr lvl="0"/>
            <a:r>
              <a:rPr b="1"/>
              <a:t>제품 효능에 기반한 추천</a:t>
            </a:r>
            <a:r>
              <a:rPr/>
              <a:t>: 여드름 치료에 효과적인 페어아크네 크림이나 다리의 피로를 풀어주는 휴족시간은 한국 여행객의 스테디셀러임.</a:t>
            </a:r>
          </a:p>
          <a:p>
            <a:pPr lvl="0"/>
            <a:r>
              <a:rPr b="1"/>
              <a:t>가성비 간식 구매</a:t>
            </a:r>
            <a:r>
              <a:rPr/>
              <a:t>: 100엔대의 저렴한 가격으로 맛볼 수 있는 즉석 라면이나 초콜릿은 대량으로 구매하여 주변에 선물하기에 가장 적합한 아이템임.</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11. 일본 드럭스토어 필수 구매 리스트 TOP 10</a:t>
            </a:r>
          </a:p>
        </p:txBody>
      </p:sp>
      <p:sp>
        <p:nvSpPr>
          <p:cNvPr id="4" name="Text Placeholder 3"/>
          <p:cNvSpPr>
            <a:spLocks noGrp="1"/>
          </p:cNvSpPr>
          <p:nvPr>
            <p:ph idx="2" sz="half" type="body"/>
          </p:nvPr>
        </p:nvSpPr>
        <p:spPr/>
        <p:txBody>
          <a:bodyPr/>
          <a:lstStyle/>
          <a:p>
            <a:pPr lvl="0" indent="0" marL="0">
              <a:buNone/>
            </a:pPr>
            <a:r>
              <a:rPr/>
              <a:t>일본 방문 시 드럭스토어는 가장 대중적이고 실용적인 쇼핑 장소입니다. 유명 브랜드의 신상품부터 오랫동안 사랑받아온 스테디셀러까지 건강과 미용을 책임지는 다양한 제품군이 마련되어 있습니다.</a:t>
            </a:r>
          </a:p>
          <a:p>
            <a:pPr lvl="0" indent="0" marL="0">
              <a:buNone/>
            </a:pPr>
            <a:r>
              <a:rPr b="1"/>
              <a:t>[표 5] 2025년 드럭스토어 필수 구매 10선</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제품명</a:t>
                      </a:r>
                    </a:p>
                  </a:txBody>
                  <a:tcPr/>
                </a:tc>
                <a:tc>
                  <a:txBody>
                    <a:bodyPr/>
                    <a:lstStyle/>
                    <a:p>
                      <a:pPr lvl="0" indent="0" marL="0" algn="l">
                        <a:buNone/>
                      </a:pPr>
                      <a:r>
                        <a:rPr/>
                        <a:t>주요 효능 및 용도</a:t>
                      </a:r>
                    </a:p>
                  </a:txBody>
                  <a:tcPr/>
                </a:tc>
                <a:tc>
                  <a:txBody>
                    <a:bodyPr/>
                    <a:lstStyle/>
                    <a:p>
                      <a:pPr lvl="0" indent="0" marL="0" algn="l">
                        <a:buNone/>
                      </a:pPr>
                      <a:r>
                        <a:rPr/>
                        <a:t>특징</a:t>
                      </a:r>
                    </a:p>
                  </a:txBody>
                  <a:tcPr/>
                </a:tc>
              </a:tr>
              <a:tr h="0">
                <a:tc>
                  <a:txBody>
                    <a:bodyPr/>
                    <a:lstStyle/>
                    <a:p>
                      <a:pPr lvl="0" indent="0" marL="0" algn="l">
                        <a:buNone/>
                      </a:pPr>
                      <a:r>
                        <a:rPr b="1"/>
                        <a:t>아크네스 25 메디컬 크림</a:t>
                      </a:r>
                    </a:p>
                  </a:txBody>
                </a:tc>
                <a:tc>
                  <a:txBody>
                    <a:bodyPr/>
                    <a:lstStyle/>
                    <a:p>
                      <a:pPr lvl="0" indent="0" marL="0" algn="l">
                        <a:buNone/>
                      </a:pPr>
                      <a:r>
                        <a:rPr/>
                        <a:t>성인 여드름 치료</a:t>
                      </a:r>
                    </a:p>
                  </a:txBody>
                </a:tc>
                <a:tc>
                  <a:txBody>
                    <a:bodyPr/>
                    <a:lstStyle/>
                    <a:p>
                      <a:pPr lvl="0" indent="0" marL="0" algn="l">
                        <a:buNone/>
                      </a:pPr>
                      <a:r>
                        <a:rPr/>
                        <a:t>염증 진정 및 손상 조직 회복</a:t>
                      </a:r>
                    </a:p>
                  </a:txBody>
                </a:tc>
              </a:tr>
              <a:tr h="0">
                <a:tc>
                  <a:txBody>
                    <a:bodyPr/>
                    <a:lstStyle/>
                    <a:p>
                      <a:pPr lvl="0" indent="0" marL="0" algn="l">
                        <a:buNone/>
                      </a:pPr>
                      <a:r>
                        <a:rPr b="1"/>
                        <a:t>메디퀵 H 골드</a:t>
                      </a:r>
                    </a:p>
                  </a:txBody>
                </a:tc>
                <a:tc>
                  <a:txBody>
                    <a:bodyPr/>
                    <a:lstStyle/>
                    <a:p>
                      <a:pPr lvl="0" indent="0" marL="0" algn="l">
                        <a:buNone/>
                      </a:pPr>
                      <a:r>
                        <a:rPr/>
                        <a:t>두피 가려움 및 습진 완화</a:t>
                      </a:r>
                    </a:p>
                  </a:txBody>
                </a:tc>
                <a:tc>
                  <a:txBody>
                    <a:bodyPr/>
                    <a:lstStyle/>
                    <a:p>
                      <a:pPr lvl="0" indent="0" marL="0" algn="l">
                        <a:buNone/>
                      </a:pPr>
                      <a:r>
                        <a:rPr/>
                        <a:t>소염 성분 최대 함유</a:t>
                      </a:r>
                    </a:p>
                  </a:txBody>
                </a:tc>
              </a:tr>
              <a:tr h="0">
                <a:tc>
                  <a:txBody>
                    <a:bodyPr/>
                    <a:lstStyle/>
                    <a:p>
                      <a:pPr lvl="0" indent="0" marL="0" algn="l">
                        <a:buNone/>
                      </a:pPr>
                      <a:r>
                        <a:rPr b="1"/>
                        <a:t>엑시브 W 사이 케어젤</a:t>
                      </a:r>
                    </a:p>
                  </a:txBody>
                </a:tc>
                <a:tc>
                  <a:txBody>
                    <a:bodyPr/>
                    <a:lstStyle/>
                    <a:p>
                      <a:pPr lvl="0" indent="0" marL="0" algn="l">
                        <a:buNone/>
                      </a:pPr>
                      <a:r>
                        <a:rPr/>
                        <a:t>손발톱 무좀 치료</a:t>
                      </a:r>
                    </a:p>
                  </a:txBody>
                </a:tc>
                <a:tc>
                  <a:txBody>
                    <a:bodyPr/>
                    <a:lstStyle/>
                    <a:p>
                      <a:pPr lvl="0" indent="0" marL="0" algn="l">
                        <a:buNone/>
                      </a:pPr>
                      <a:r>
                        <a:rPr/>
                        <a:t>한국에서 찾기 힘든 젤 타입</a:t>
                      </a:r>
                    </a:p>
                  </a:txBody>
                </a:tc>
              </a:tr>
              <a:tr h="0">
                <a:tc>
                  <a:txBody>
                    <a:bodyPr/>
                    <a:lstStyle/>
                    <a:p>
                      <a:pPr lvl="0" indent="0" marL="0" algn="l">
                        <a:buNone/>
                      </a:pPr>
                      <a:r>
                        <a:rPr b="1"/>
                        <a:t>바파린 A</a:t>
                      </a:r>
                    </a:p>
                  </a:txBody>
                </a:tc>
                <a:tc>
                  <a:txBody>
                    <a:bodyPr/>
                    <a:lstStyle/>
                    <a:p>
                      <a:pPr lvl="0" indent="0" marL="0" algn="l">
                        <a:buNone/>
                      </a:pPr>
                      <a:r>
                        <a:rPr/>
                        <a:t>빠른 진통 효과</a:t>
                      </a:r>
                    </a:p>
                  </a:txBody>
                </a:tc>
                <a:tc>
                  <a:txBody>
                    <a:bodyPr/>
                    <a:lstStyle/>
                    <a:p>
                      <a:pPr lvl="0" indent="0" marL="0" algn="l">
                        <a:buNone/>
                      </a:pPr>
                      <a:r>
                        <a:rPr/>
                        <a:t>위에 부담이 적고 졸음 유발 없음</a:t>
                      </a:r>
                    </a:p>
                  </a:txBody>
                </a:tc>
              </a:tr>
              <a:tr h="0">
                <a:tc>
                  <a:txBody>
                    <a:bodyPr/>
                    <a:lstStyle/>
                    <a:p>
                      <a:pPr lvl="0" indent="0" marL="0" algn="l">
                        <a:buNone/>
                      </a:pPr>
                      <a:r>
                        <a:rPr b="1"/>
                        <a:t>로토 골드 40</a:t>
                      </a:r>
                    </a:p>
                  </a:txBody>
                </a:tc>
                <a:tc>
                  <a:txBody>
                    <a:bodyPr/>
                    <a:lstStyle/>
                    <a:p>
                      <a:pPr lvl="0" indent="0" marL="0" algn="l">
                        <a:buNone/>
                      </a:pPr>
                      <a:r>
                        <a:rPr/>
                        <a:t>눈의 침침함 및 피로 개선</a:t>
                      </a:r>
                    </a:p>
                  </a:txBody>
                </a:tc>
                <a:tc>
                  <a:txBody>
                    <a:bodyPr/>
                    <a:lstStyle/>
                    <a:p>
                      <a:pPr lvl="0" indent="0" marL="0" algn="l">
                        <a:buNone/>
                      </a:pPr>
                      <a:r>
                        <a:rPr/>
                        <a:t>6가지 유효 성분 최대 농도 배합</a:t>
                      </a:r>
                    </a:p>
                  </a:txBody>
                </a:tc>
              </a:tr>
              <a:tr h="0">
                <a:tc>
                  <a:txBody>
                    <a:bodyPr/>
                    <a:lstStyle/>
                    <a:p>
                      <a:pPr lvl="0" indent="0" marL="0" algn="l">
                        <a:buNone/>
                      </a:pPr>
                      <a:r>
                        <a:rPr b="1"/>
                        <a:t>로토 리세그로우</a:t>
                      </a:r>
                    </a:p>
                  </a:txBody>
                </a:tc>
                <a:tc>
                  <a:txBody>
                    <a:bodyPr/>
                    <a:lstStyle/>
                    <a:p>
                      <a:pPr lvl="0" indent="0" marL="0" algn="l">
                        <a:buNone/>
                      </a:pPr>
                      <a:r>
                        <a:rPr/>
                        <a:t>콘택트렌즈 착용 중 안약</a:t>
                      </a:r>
                    </a:p>
                  </a:txBody>
                </a:tc>
                <a:tc>
                  <a:txBody>
                    <a:bodyPr/>
                    <a:lstStyle/>
                    <a:p>
                      <a:pPr lvl="0" indent="0" marL="0" algn="l">
                        <a:buNone/>
                      </a:pPr>
                      <a:r>
                        <a:rPr/>
                        <a:t>메이크업 무너짐 방지용 노즐 사용</a:t>
                      </a:r>
                    </a:p>
                  </a:txBody>
                </a:tc>
              </a:tr>
              <a:tr h="0">
                <a:tc>
                  <a:txBody>
                    <a:bodyPr/>
                    <a:lstStyle/>
                    <a:p>
                      <a:pPr lvl="0" indent="0" marL="0" algn="l">
                        <a:buNone/>
                      </a:pPr>
                      <a:r>
                        <a:rPr b="1"/>
                        <a:t>메라노 CC 효소 세안</a:t>
                      </a:r>
                    </a:p>
                  </a:txBody>
                </a:tc>
                <a:tc>
                  <a:txBody>
                    <a:bodyPr/>
                    <a:lstStyle/>
                    <a:p>
                      <a:pPr lvl="0" indent="0" marL="0" algn="l">
                        <a:buNone/>
                      </a:pPr>
                      <a:r>
                        <a:rPr/>
                        <a:t>모공 관리 및 각질 제거</a:t>
                      </a:r>
                    </a:p>
                  </a:txBody>
                </a:tc>
                <a:tc>
                  <a:txBody>
                    <a:bodyPr/>
                    <a:lstStyle/>
                    <a:p>
                      <a:pPr lvl="0" indent="0" marL="0" algn="l">
                        <a:buNone/>
                      </a:pPr>
                      <a:r>
                        <a:rPr/>
                        <a:t>비타민C 함유로 수분 유지 세안</a:t>
                      </a:r>
                    </a:p>
                  </a:txBody>
                </a:tc>
              </a:tr>
              <a:tr h="0">
                <a:tc>
                  <a:txBody>
                    <a:bodyPr/>
                    <a:lstStyle/>
                    <a:p>
                      <a:pPr lvl="0" indent="0" marL="0" algn="l">
                        <a:buNone/>
                      </a:pPr>
                      <a:r>
                        <a:rPr b="1"/>
                        <a:t>하다라보 시로쥰 프리미엄</a:t>
                      </a:r>
                    </a:p>
                  </a:txBody>
                </a:tc>
                <a:tc>
                  <a:txBody>
                    <a:bodyPr/>
                    <a:lstStyle/>
                    <a:p>
                      <a:pPr lvl="0" indent="0" marL="0" algn="l">
                        <a:buNone/>
                      </a:pPr>
                      <a:r>
                        <a:rPr/>
                        <a:t>침투 미백 스킨케어</a:t>
                      </a:r>
                    </a:p>
                  </a:txBody>
                </a:tc>
                <a:tc>
                  <a:txBody>
                    <a:bodyPr/>
                    <a:lstStyle/>
                    <a:p>
                      <a:pPr lvl="0" indent="0" marL="0" algn="l">
                        <a:buNone/>
                      </a:pPr>
                      <a:r>
                        <a:rPr/>
                        <a:t>순한 성분의 약용 미백 화장수</a:t>
                      </a:r>
                    </a:p>
                  </a:txBody>
                </a:tc>
              </a:tr>
              <a:tr h="0">
                <a:tc>
                  <a:txBody>
                    <a:bodyPr/>
                    <a:lstStyle/>
                    <a:p>
                      <a:pPr lvl="0" indent="0" marL="0" algn="l">
                        <a:buNone/>
                      </a:pPr>
                      <a:r>
                        <a:rPr b="1"/>
                        <a:t>LION 시미토리 레스큐</a:t>
                      </a:r>
                    </a:p>
                  </a:txBody>
                </a:tc>
                <a:tc>
                  <a:txBody>
                    <a:bodyPr/>
                    <a:lstStyle/>
                    <a:p>
                      <a:pPr lvl="0" indent="0" marL="0" algn="l">
                        <a:buNone/>
                      </a:pPr>
                      <a:r>
                        <a:rPr/>
                        <a:t>휴대용 얼룩 제거제</a:t>
                      </a:r>
                    </a:p>
                  </a:txBody>
                </a:tc>
                <a:tc>
                  <a:txBody>
                    <a:bodyPr/>
                    <a:lstStyle/>
                    <a:p>
                      <a:pPr lvl="0" indent="0" marL="0" algn="l">
                        <a:buNone/>
                      </a:pPr>
                      <a:r>
                        <a:rPr/>
                        <a:t>수성 및 유성 얼룩 모두 제거 가능</a:t>
                      </a:r>
                    </a:p>
                  </a:txBody>
                </a:tc>
              </a:tr>
              <a:tr h="0">
                <a:tc>
                  <a:txBody>
                    <a:bodyPr/>
                    <a:lstStyle/>
                    <a:p>
                      <a:pPr lvl="0" indent="0" marL="0" algn="l">
                        <a:buNone/>
                      </a:pPr>
                      <a:r>
                        <a:rPr b="1"/>
                        <a:t>런드린 페브릭 미스트</a:t>
                      </a:r>
                    </a:p>
                  </a:txBody>
                </a:tc>
                <a:tc>
                  <a:txBody>
                    <a:bodyPr/>
                    <a:lstStyle/>
                    <a:p>
                      <a:pPr lvl="0" indent="0" marL="0" algn="l">
                        <a:buNone/>
                      </a:pPr>
                      <a:r>
                        <a:rPr/>
                        <a:t>의류 및 룸 스프레이</a:t>
                      </a:r>
                    </a:p>
                  </a:txBody>
                </a:tc>
                <a:tc>
                  <a:txBody>
                    <a:bodyPr/>
                    <a:lstStyle/>
                    <a:p>
                      <a:pPr lvl="0" indent="0" marL="0" algn="l">
                        <a:buNone/>
                      </a:pPr>
                      <a:r>
                        <a:rPr/>
                        <a:t>우아한 클래식 플로럴 향기</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성인 여드름 전용 관리</a:t>
            </a:r>
            <a:r>
              <a:rPr/>
              <a:t>: 아크네스 25는 7년 만에 리뉴얼되어 끈질긴 여드름의 뿌리부터 공략하는 강력한 성분으로 구성된 제품임.</a:t>
            </a:r>
          </a:p>
          <a:p>
            <a:pPr lvl="0"/>
            <a:r>
              <a:rPr b="1"/>
              <a:t>눈 건강을 위한 선물</a:t>
            </a:r>
            <a:r>
              <a:rPr/>
              <a:t>: 스마트폰과 PC 사용이 잦은 현대인이나 중장년층 부모님께 로토 골드 40은 매우 실용적인 기념품이 될 수 있음.</a:t>
            </a:r>
          </a:p>
          <a:p>
            <a:pPr lvl="0"/>
            <a:r>
              <a:rPr b="1"/>
              <a:t>여름철 두피 관리</a:t>
            </a:r>
            <a:r>
              <a:rPr/>
              <a:t>: 무더운 날씨에 발생하는 두피 가려움과 비듬 고민을 위해 염증 진정 효과가 뛰어난 메디퀵 H 골드 사용을 권장함.</a:t>
            </a:r>
          </a:p>
          <a:p>
            <a:pPr lvl="0"/>
            <a:r>
              <a:rPr b="1"/>
              <a:t>만능 얼룩 제거 도구</a:t>
            </a:r>
            <a:r>
              <a:rPr/>
              <a:t>: 옷에 묻은 커피나 파운데이션 등 곤란한 얼룩을 흡수 시트와 함께 간단히 지울 수 있어 여행 중 필수 소지품임.</a:t>
            </a:r>
          </a:p>
          <a:p>
            <a:pPr lvl="0"/>
            <a:r>
              <a:rPr b="1"/>
              <a:t>의약품 구매 시 주의</a:t>
            </a:r>
            <a:r>
              <a:rPr/>
              <a:t>: 복용 중인 약이 있다면 전문가와 상의하고, 기내 수하물 규정에 맞춰 액체류 용량을 반드시 확인해야 함.</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긴자 쇼핑 가이드: 백화점 및 플래그십 스토어</a:t>
            </a:r>
          </a:p>
        </p:txBody>
      </p:sp>
      <p:sp>
        <p:nvSpPr>
          <p:cNvPr id="3" name="Content Placeholder 2"/>
          <p:cNvSpPr>
            <a:spLocks noGrp="1"/>
          </p:cNvSpPr>
          <p:nvPr>
            <p:ph idx="1"/>
          </p:nvPr>
        </p:nvSpPr>
        <p:spPr/>
        <p:txBody>
          <a:bodyPr/>
          <a:lstStyle/>
          <a:p>
            <a:pPr lvl="0" indent="0" marL="0">
              <a:buNone/>
            </a:pPr>
            <a:r>
              <a:rPr/>
              <a:t>긴자는 도쿄에서 가장 세련되고 우아한 쇼핑 거리로, 100년 전통의 노포 백화점과 최신 복합 쇼핑몰이 공존하는 지역입니다. 글로벌 명품 브랜드부터 합리적인 가격의 일본 브랜드까지 폭넓은 쇼핑 경험을 선사합니다.</a:t>
            </a:r>
          </a:p>
          <a:p>
            <a:pPr lvl="0"/>
            <a:r>
              <a:rPr b="1"/>
              <a:t>긴자 미쓰코시 백화점</a:t>
            </a:r>
            <a:r>
              <a:rPr/>
              <a:t>: 1930년에 창업한 프리미엄 백화점으로, 명품관뿐만 아니라 도심 속 공항형 면세점과 수족관 미술관을 함께 운영함.</a:t>
            </a:r>
          </a:p>
          <a:p>
            <a:pPr lvl="0"/>
            <a:r>
              <a:rPr b="1"/>
              <a:t>마쓰야 긴자</a:t>
            </a:r>
            <a:r>
              <a:rPr/>
              <a:t>: 100년 역사를 지닌 곳으로 보석과 의류 브랜드가 강점이며 지하 식품 코너에서 수준 높은 디저트 쇼핑이 가능함.</a:t>
            </a:r>
          </a:p>
          <a:p>
            <a:pPr lvl="0"/>
            <a:r>
              <a:rPr b="1"/>
              <a:t>유니클로 긴자점</a:t>
            </a:r>
            <a:r>
              <a:rPr/>
              <a:t>: 12층 건물 전체가 매장인 세계 최대 규모의 플래그십 스토어로, 자수 서비스인 ’MY UNIQLO’와 한정 티셔츠가 인기임.</a:t>
            </a:r>
          </a:p>
          <a:p>
            <a:pPr lvl="0"/>
            <a:r>
              <a:rPr b="1"/>
              <a:t>GINZA SIX</a:t>
            </a:r>
            <a:r>
              <a:rPr/>
              <a:t>: 2017년 오픈한 현대적 쇼핑몰로 블루보틀과 쓰타야 서점 등 감각적인 브랜드가 입점해 있어 문화적 체험을 중시하는 팬들에게 최적임.</a:t>
            </a:r>
          </a:p>
          <a:p>
            <a:pPr lvl="0"/>
            <a:r>
              <a:rPr b="1"/>
              <a:t>무인양품 긴자</a:t>
            </a:r>
            <a:r>
              <a:rPr/>
              <a:t>: 일본 최대 규모의 무인양품 매장으로 레스토랑, 베이커리, 서점은 물론 위층에는 전용 호텔까지 갖춘 복합 공간임.</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13. 문구 덕후를 위한 도쿄의 대표 문구점 6선</a:t>
            </a:r>
          </a:p>
        </p:txBody>
      </p:sp>
      <p:sp>
        <p:nvSpPr>
          <p:cNvPr id="4" name="Text Placeholder 3"/>
          <p:cNvSpPr>
            <a:spLocks noGrp="1"/>
          </p:cNvSpPr>
          <p:nvPr>
            <p:ph idx="2" sz="half" type="body"/>
          </p:nvPr>
        </p:nvSpPr>
        <p:spPr/>
        <p:txBody>
          <a:bodyPr/>
          <a:lstStyle/>
          <a:p>
            <a:pPr lvl="0" indent="0" marL="0">
              <a:buNone/>
            </a:pPr>
            <a:r>
              <a:rPr/>
              <a:t>일본은 문구류에 대한 깊은 애정으로 엄청난 규모의 전문점들을 보유하고 있으며, 도쿄는 그 정점에 있습니다. 고급스러운 분위기부터 가성비 좋은 도매점까지 각기 다른 개성을 가진 문구점들이 여행객을 기다립니다.</a:t>
            </a:r>
          </a:p>
          <a:p>
            <a:pPr lvl="0" indent="0" marL="0">
              <a:buNone/>
            </a:pPr>
            <a:r>
              <a:rPr b="1"/>
              <a:t>[표 6] 도쿄 주요 문구 전문점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이름</a:t>
                      </a:r>
                    </a:p>
                  </a:txBody>
                  <a:tcPr/>
                </a:tc>
                <a:tc>
                  <a:txBody>
                    <a:bodyPr/>
                    <a:lstStyle/>
                    <a:p>
                      <a:pPr lvl="0" indent="0" marL="0" algn="l">
                        <a:buNone/>
                      </a:pPr>
                      <a:r>
                        <a:rPr/>
                        <a:t>특징</a:t>
                      </a:r>
                    </a:p>
                  </a:txBody>
                  <a:tcPr/>
                </a:tc>
                <a:tc>
                  <a:txBody>
                    <a:bodyPr/>
                    <a:lstStyle/>
                    <a:p>
                      <a:pPr lvl="0" indent="0" marL="0" algn="l">
                        <a:buNone/>
                      </a:pPr>
                      <a:r>
                        <a:rPr/>
                        <a:t>위치</a:t>
                      </a:r>
                    </a:p>
                  </a:txBody>
                  <a:tcPr/>
                </a:tc>
                <a:tc>
                  <a:txBody>
                    <a:bodyPr/>
                    <a:lstStyle/>
                    <a:p>
                      <a:pPr lvl="0" indent="0" marL="0" algn="l">
                        <a:buNone/>
                      </a:pPr>
                      <a:r>
                        <a:rPr/>
                        <a:t>추천 포인트</a:t>
                      </a:r>
                    </a:p>
                  </a:txBody>
                  <a:tcPr/>
                </a:tc>
              </a:tr>
              <a:tr h="0">
                <a:tc>
                  <a:txBody>
                    <a:bodyPr/>
                    <a:lstStyle/>
                    <a:p>
                      <a:pPr lvl="0" indent="0" marL="0" algn="l">
                        <a:buNone/>
                      </a:pPr>
                      <a:r>
                        <a:rPr b="1"/>
                        <a:t>이토야 (Itoya)</a:t>
                      </a:r>
                    </a:p>
                  </a:txBody>
                </a:tc>
                <a:tc>
                  <a:txBody>
                    <a:bodyPr/>
                    <a:lstStyle/>
                    <a:p>
                      <a:pPr lvl="0" indent="0" marL="0" algn="l">
                        <a:buNone/>
                      </a:pPr>
                      <a:r>
                        <a:rPr/>
                        <a:t>100년 전통의 고급 문구</a:t>
                      </a:r>
                    </a:p>
                  </a:txBody>
                </a:tc>
                <a:tc>
                  <a:txBody>
                    <a:bodyPr/>
                    <a:lstStyle/>
                    <a:p>
                      <a:pPr lvl="0" indent="0" marL="0" algn="l">
                        <a:buNone/>
                      </a:pPr>
                      <a:r>
                        <a:rPr/>
                        <a:t>긴자 (12층)</a:t>
                      </a:r>
                    </a:p>
                  </a:txBody>
                </a:tc>
                <a:tc>
                  <a:txBody>
                    <a:bodyPr/>
                    <a:lstStyle/>
                    <a:p>
                      <a:pPr lvl="0" indent="0" marL="0" algn="l">
                        <a:buNone/>
                      </a:pPr>
                      <a:r>
                        <a:rPr/>
                        <a:t>최상급 품질의 문구류와 건물 디자인</a:t>
                      </a:r>
                    </a:p>
                  </a:txBody>
                </a:tc>
              </a:tr>
              <a:tr h="0">
                <a:tc>
                  <a:txBody>
                    <a:bodyPr/>
                    <a:lstStyle/>
                    <a:p>
                      <a:pPr lvl="0" indent="0" marL="0" algn="l">
                        <a:buNone/>
                      </a:pPr>
                      <a:r>
                        <a:rPr b="1"/>
                        <a:t>세카이도 (Sekaido)</a:t>
                      </a:r>
                    </a:p>
                  </a:txBody>
                </a:tc>
                <a:tc>
                  <a:txBody>
                    <a:bodyPr/>
                    <a:lstStyle/>
                    <a:p>
                      <a:pPr lvl="0" indent="0" marL="0" algn="l">
                        <a:buNone/>
                      </a:pPr>
                      <a:r>
                        <a:rPr/>
                        <a:t>도매 문구 백화점</a:t>
                      </a:r>
                    </a:p>
                  </a:txBody>
                </a:tc>
                <a:tc>
                  <a:txBody>
                    <a:bodyPr/>
                    <a:lstStyle/>
                    <a:p>
                      <a:pPr lvl="0" indent="0" marL="0" algn="l">
                        <a:buNone/>
                      </a:pPr>
                      <a:r>
                        <a:rPr/>
                        <a:t>신주쿠</a:t>
                      </a:r>
                    </a:p>
                  </a:txBody>
                </a:tc>
                <a:tc>
                  <a:txBody>
                    <a:bodyPr/>
                    <a:lstStyle/>
                    <a:p>
                      <a:pPr lvl="0" indent="0" marL="0" algn="l">
                        <a:buNone/>
                      </a:pPr>
                      <a:r>
                        <a:rPr/>
                        <a:t>타 매장 대비 20% 저렴한 미술용품</a:t>
                      </a:r>
                    </a:p>
                  </a:txBody>
                </a:tc>
              </a:tr>
              <a:tr h="0">
                <a:tc>
                  <a:txBody>
                    <a:bodyPr/>
                    <a:lstStyle/>
                    <a:p>
                      <a:pPr lvl="0" indent="0" marL="0" algn="l">
                        <a:buNone/>
                      </a:pPr>
                      <a:r>
                        <a:rPr b="1"/>
                        <a:t>도큐핸즈 (Hands)</a:t>
                      </a:r>
                    </a:p>
                  </a:txBody>
                </a:tc>
                <a:tc>
                  <a:txBody>
                    <a:bodyPr/>
                    <a:lstStyle/>
                    <a:p>
                      <a:pPr lvl="0" indent="0" marL="0" algn="l">
                        <a:buNone/>
                      </a:pPr>
                      <a:r>
                        <a:rPr/>
                        <a:t>DIY 및 생활 잡화</a:t>
                      </a:r>
                    </a:p>
                  </a:txBody>
                </a:tc>
                <a:tc>
                  <a:txBody>
                    <a:bodyPr/>
                    <a:lstStyle/>
                    <a:p>
                      <a:pPr lvl="0" indent="0" marL="0" algn="l">
                        <a:buNone/>
                      </a:pPr>
                      <a:r>
                        <a:rPr/>
                        <a:t>시부야 (8층)</a:t>
                      </a:r>
                    </a:p>
                  </a:txBody>
                </a:tc>
                <a:tc>
                  <a:txBody>
                    <a:bodyPr/>
                    <a:lstStyle/>
                    <a:p>
                      <a:pPr lvl="0" indent="0" marL="0" algn="l">
                        <a:buNone/>
                      </a:pPr>
                      <a:r>
                        <a:rPr/>
                        <a:t>문구 외에도 다양한 아이디어 상품 집합</a:t>
                      </a:r>
                    </a:p>
                  </a:txBody>
                </a:tc>
              </a:tr>
              <a:tr h="0">
                <a:tc>
                  <a:txBody>
                    <a:bodyPr/>
                    <a:lstStyle/>
                    <a:p>
                      <a:pPr lvl="0" indent="0" marL="0" algn="l">
                        <a:buNone/>
                      </a:pPr>
                      <a:r>
                        <a:rPr b="1"/>
                        <a:t>로프트 (Loft)</a:t>
                      </a:r>
                    </a:p>
                  </a:txBody>
                </a:tc>
                <a:tc>
                  <a:txBody>
                    <a:bodyPr/>
                    <a:lstStyle/>
                    <a:p>
                      <a:pPr lvl="0" indent="0" marL="0" algn="l">
                        <a:buNone/>
                      </a:pPr>
                      <a:r>
                        <a:rPr/>
                        <a:t>트렌디한 잡화 전문</a:t>
                      </a:r>
                    </a:p>
                  </a:txBody>
                </a:tc>
                <a:tc>
                  <a:txBody>
                    <a:bodyPr/>
                    <a:lstStyle/>
                    <a:p>
                      <a:pPr lvl="0" indent="0" marL="0" algn="l">
                        <a:buNone/>
                      </a:pPr>
                      <a:r>
                        <a:rPr/>
                        <a:t>시부야 / 긴자</a:t>
                      </a:r>
                    </a:p>
                  </a:txBody>
                </a:tc>
                <a:tc>
                  <a:txBody>
                    <a:bodyPr/>
                    <a:lstStyle/>
                    <a:p>
                      <a:pPr lvl="0" indent="0" marL="0" algn="l">
                        <a:buNone/>
                      </a:pPr>
                      <a:r>
                        <a:rPr/>
                        <a:t>선물용 기념품 및 신규 굿즈가 풍부함</a:t>
                      </a:r>
                    </a:p>
                  </a:txBody>
                </a:tc>
              </a:tr>
              <a:tr h="0">
                <a:tc>
                  <a:txBody>
                    <a:bodyPr/>
                    <a:lstStyle/>
                    <a:p>
                      <a:pPr lvl="0" indent="0" marL="0" algn="l">
                        <a:buNone/>
                      </a:pPr>
                      <a:r>
                        <a:rPr b="1"/>
                        <a:t>무인양품 (Muji)</a:t>
                      </a:r>
                    </a:p>
                  </a:txBody>
                </a:tc>
                <a:tc>
                  <a:txBody>
                    <a:bodyPr/>
                    <a:lstStyle/>
                    <a:p>
                      <a:pPr lvl="0" indent="0" marL="0" algn="l">
                        <a:buNone/>
                      </a:pPr>
                      <a:r>
                        <a:rPr/>
                        <a:t>미니멀한 실용 문구</a:t>
                      </a:r>
                    </a:p>
                  </a:txBody>
                </a:tc>
                <a:tc>
                  <a:txBody>
                    <a:bodyPr/>
                    <a:lstStyle/>
                    <a:p>
                      <a:pPr lvl="0" indent="0" marL="0" algn="l">
                        <a:buNone/>
                      </a:pPr>
                      <a:r>
                        <a:rPr/>
                        <a:t>긴자 (6층)</a:t>
                      </a:r>
                    </a:p>
                  </a:txBody>
                </a:tc>
                <a:tc>
                  <a:txBody>
                    <a:bodyPr/>
                    <a:lstStyle/>
                    <a:p>
                      <a:pPr lvl="0" indent="0" marL="0" algn="l">
                        <a:buNone/>
                      </a:pPr>
                      <a:r>
                        <a:rPr/>
                        <a:t>깔끔한 디자인과 한국 대비 저렴한 가격</a:t>
                      </a:r>
                    </a:p>
                  </a:txBody>
                </a:tc>
              </a:tr>
              <a:tr h="0">
                <a:tc>
                  <a:txBody>
                    <a:bodyPr/>
                    <a:lstStyle/>
                    <a:p>
                      <a:pPr lvl="0" indent="0" marL="0" algn="l">
                        <a:buNone/>
                      </a:pPr>
                      <a:r>
                        <a:rPr b="1"/>
                        <a:t>카키모리 (Kakimori)</a:t>
                      </a:r>
                    </a:p>
                  </a:txBody>
                </a:tc>
                <a:tc>
                  <a:txBody>
                    <a:bodyPr/>
                    <a:lstStyle/>
                    <a:p>
                      <a:pPr lvl="0" indent="0" marL="0" algn="l">
                        <a:buNone/>
                      </a:pPr>
                      <a:r>
                        <a:rPr/>
                        <a:t>주문 제작 노트 전문</a:t>
                      </a:r>
                    </a:p>
                  </a:txBody>
                </a:tc>
                <a:tc>
                  <a:txBody>
                    <a:bodyPr/>
                    <a:lstStyle/>
                    <a:p>
                      <a:pPr lvl="0" indent="0" marL="0" algn="l">
                        <a:buNone/>
                      </a:pPr>
                      <a:r>
                        <a:rPr/>
                        <a:t>쿠리마에</a:t>
                      </a:r>
                    </a:p>
                  </a:txBody>
                </a:tc>
                <a:tc>
                  <a:txBody>
                    <a:bodyPr/>
                    <a:lstStyle/>
                    <a:p>
                      <a:pPr lvl="0" indent="0" marL="0" algn="l">
                        <a:buNone/>
                      </a:pPr>
                      <a:r>
                        <a:rPr/>
                        <a:t>자신만의 종이와 링을 선택한 맞춤 제작</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아이쇼핑과 실속 구매 분리</a:t>
            </a:r>
            <a:r>
              <a:rPr/>
              <a:t>: 이토야에서 정교한 제품을 구경하고, 실제 대량 구매는 할인이 적용되는 세카이도에서 진행하는 전략이 유효함.</a:t>
            </a:r>
          </a:p>
          <a:p>
            <a:pPr lvl="0"/>
            <a:r>
              <a:rPr b="1"/>
              <a:t>시부야의 보물창고 핸즈</a:t>
            </a:r>
            <a:r>
              <a:rPr/>
              <a:t>: 8층 규모의 시부야점은 없는 게 없을 정도의 라인업을 자랑하며 5,000엔 이상 구매 시 택스 리펀이 가능함.</a:t>
            </a:r>
          </a:p>
          <a:p>
            <a:pPr lvl="0"/>
            <a:r>
              <a:rPr b="1"/>
              <a:t>로프트의 지점별 매력</a:t>
            </a:r>
            <a:r>
              <a:rPr/>
              <a:t>: 최근에 생긴 긴자 로프트는 깔끔하고 한산하며, 시부야 로프트는 가장 많은 신상품과 인파로 활기가 넘치는 분위기임.</a:t>
            </a:r>
          </a:p>
          <a:p>
            <a:pPr lvl="0"/>
            <a:r>
              <a:rPr b="1"/>
              <a:t>카키모리의 세상에 하나뿐인 노트</a:t>
            </a:r>
            <a:r>
              <a:rPr/>
              <a:t>: 30분에서 1시간 30분 정도의 제작 시간만 투자하면 재질과 크기를 모두 선택한 나만의 노트를 가질 수 있음.</a:t>
            </a:r>
          </a:p>
          <a:p>
            <a:pPr lvl="0"/>
            <a:r>
              <a:rPr b="1"/>
              <a:t>무인양품의 가격 경쟁력</a:t>
            </a:r>
            <a:r>
              <a:rPr/>
              <a:t>: 한국에도 매장이 많지만 도쿄 현지에서는 최소 10% 이상 저렴하고 다양한 팝업 및 한정 제품을 만날 수 있음.</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14. 애니메이션 및 굿즈 쇼핑 가이드: 아키하바라 vs 이케부쿠로</a:t>
            </a:r>
          </a:p>
        </p:txBody>
      </p:sp>
      <p:sp>
        <p:nvSpPr>
          <p:cNvPr id="4" name="Text Placeholder 3"/>
          <p:cNvSpPr>
            <a:spLocks noGrp="1"/>
          </p:cNvSpPr>
          <p:nvPr>
            <p:ph idx="2" sz="half" type="body"/>
          </p:nvPr>
        </p:nvSpPr>
        <p:spPr/>
        <p:txBody>
          <a:bodyPr/>
          <a:lstStyle/>
          <a:p>
            <a:pPr lvl="0" indent="0" marL="0">
              <a:buNone/>
            </a:pPr>
            <a:r>
              <a:rPr/>
              <a:t>도쿄는 전 세계 애니메이션 팬들의 성지로, 지역마다 타겟팅하는 장르와 분위기가 다릅니다. 남성향 콘텐츠 중심의 아키하바라와 여성향 콘텐츠가 풍부한 이케부쿠로를 취향에 맞게 선택하여 방문해야 합니다.</a:t>
            </a:r>
          </a:p>
          <a:p>
            <a:pPr lvl="0" indent="0" marL="0">
              <a:buNone/>
            </a:pPr>
            <a:r>
              <a:rPr b="1"/>
              <a:t>[표 7] 도쿄 주요 애니메이션 쇼핑 명소</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매장명</a:t>
                      </a:r>
                    </a:p>
                  </a:txBody>
                  <a:tcPr/>
                </a:tc>
                <a:tc>
                  <a:txBody>
                    <a:bodyPr/>
                    <a:lstStyle/>
                    <a:p>
                      <a:pPr lvl="0" indent="0" marL="0" algn="l">
                        <a:buNone/>
                      </a:pPr>
                      <a:r>
                        <a:rPr/>
                        <a:t>주요 취급 품목</a:t>
                      </a:r>
                    </a:p>
                  </a:txBody>
                  <a:tcPr/>
                </a:tc>
                <a:tc>
                  <a:txBody>
                    <a:bodyPr/>
                    <a:lstStyle/>
                    <a:p>
                      <a:pPr lvl="0" indent="0" marL="0" algn="l">
                        <a:buNone/>
                      </a:pPr>
                      <a:r>
                        <a:rPr/>
                        <a:t>특징</a:t>
                      </a:r>
                    </a:p>
                  </a:txBody>
                  <a:tcPr/>
                </a:tc>
              </a:tr>
              <a:tr h="0">
                <a:tc>
                  <a:txBody>
                    <a:bodyPr/>
                    <a:lstStyle/>
                    <a:p>
                      <a:pPr lvl="0" indent="0" marL="0" algn="l">
                        <a:buNone/>
                      </a:pPr>
                      <a:r>
                        <a:rPr b="1"/>
                        <a:t>아니메이트</a:t>
                      </a:r>
                    </a:p>
                  </a:txBody>
                </a:tc>
                <a:tc>
                  <a:txBody>
                    <a:bodyPr/>
                    <a:lstStyle/>
                    <a:p>
                      <a:pPr lvl="0" indent="0" marL="0" algn="l">
                        <a:buNone/>
                      </a:pPr>
                      <a:r>
                        <a:rPr/>
                        <a:t>만화, 잡지, 최신 굿즈</a:t>
                      </a:r>
                    </a:p>
                  </a:txBody>
                </a:tc>
                <a:tc>
                  <a:txBody>
                    <a:bodyPr/>
                    <a:lstStyle/>
                    <a:p>
                      <a:pPr lvl="0" indent="0" marL="0" algn="l">
                        <a:buNone/>
                      </a:pPr>
                      <a:r>
                        <a:rPr/>
                        <a:t>이케부쿠로 본점이 최대 규모, 영어 라벨 제공</a:t>
                      </a:r>
                    </a:p>
                  </a:txBody>
                </a:tc>
              </a:tr>
              <a:tr h="0">
                <a:tc>
                  <a:txBody>
                    <a:bodyPr/>
                    <a:lstStyle/>
                    <a:p>
                      <a:pPr lvl="0" indent="0" marL="0" algn="l">
                        <a:buNone/>
                      </a:pPr>
                      <a:r>
                        <a:rPr b="1"/>
                        <a:t>만다라케</a:t>
                      </a:r>
                    </a:p>
                  </a:txBody>
                </a:tc>
                <a:tc>
                  <a:txBody>
                    <a:bodyPr/>
                    <a:lstStyle/>
                    <a:p>
                      <a:pPr lvl="0" indent="0" marL="0" algn="l">
                        <a:buNone/>
                      </a:pPr>
                      <a:r>
                        <a:rPr/>
                        <a:t>중고 피규어, 셀화, 게임</a:t>
                      </a:r>
                    </a:p>
                  </a:txBody>
                </a:tc>
                <a:tc>
                  <a:txBody>
                    <a:bodyPr/>
                    <a:lstStyle/>
                    <a:p>
                      <a:pPr lvl="0" indent="0" marL="0" algn="l">
                        <a:buNone/>
                      </a:pPr>
                      <a:r>
                        <a:rPr/>
                        <a:t>나카노 브로드웨이의 복고풍 보물찾기 성지</a:t>
                      </a:r>
                    </a:p>
                  </a:txBody>
                </a:tc>
              </a:tr>
              <a:tr h="0">
                <a:tc>
                  <a:txBody>
                    <a:bodyPr/>
                    <a:lstStyle/>
                    <a:p>
                      <a:pPr lvl="0" indent="0" marL="0" algn="l">
                        <a:buNone/>
                      </a:pPr>
                      <a:r>
                        <a:rPr b="1"/>
                        <a:t>라디오회관</a:t>
                      </a:r>
                    </a:p>
                  </a:txBody>
                </a:tc>
                <a:tc>
                  <a:txBody>
                    <a:bodyPr/>
                    <a:lstStyle/>
                    <a:p>
                      <a:pPr lvl="0" indent="0" marL="0" algn="l">
                        <a:buNone/>
                      </a:pPr>
                      <a:r>
                        <a:rPr/>
                        <a:t>신작 피규어, 하비 숍 집합</a:t>
                      </a:r>
                    </a:p>
                  </a:txBody>
                </a:tc>
                <a:tc>
                  <a:txBody>
                    <a:bodyPr/>
                    <a:lstStyle/>
                    <a:p>
                      <a:pPr lvl="0" indent="0" marL="0" algn="l">
                        <a:buNone/>
                      </a:pPr>
                      <a:r>
                        <a:rPr/>
                        <a:t>아키하바라 역 앞 노란 간판의 랜드마크</a:t>
                      </a:r>
                    </a:p>
                  </a:txBody>
                </a:tc>
              </a:tr>
              <a:tr h="0">
                <a:tc>
                  <a:txBody>
                    <a:bodyPr/>
                    <a:lstStyle/>
                    <a:p>
                      <a:pPr lvl="0" indent="0" marL="0" algn="l">
                        <a:buNone/>
                      </a:pPr>
                      <a:r>
                        <a:rPr b="1"/>
                        <a:t>포켓몬센터 MEGA</a:t>
                      </a:r>
                    </a:p>
                  </a:txBody>
                </a:tc>
                <a:tc>
                  <a:txBody>
                    <a:bodyPr/>
                    <a:lstStyle/>
                    <a:p>
                      <a:pPr lvl="0" indent="0" marL="0" algn="l">
                        <a:buNone/>
                      </a:pPr>
                      <a:r>
                        <a:rPr/>
                        <a:t>공식 포켓몬 게임 및 굿즈</a:t>
                      </a:r>
                    </a:p>
                  </a:txBody>
                </a:tc>
                <a:tc>
                  <a:txBody>
                    <a:bodyPr/>
                    <a:lstStyle/>
                    <a:p>
                      <a:pPr lvl="0" indent="0" marL="0" algn="l">
                        <a:buNone/>
                      </a:pPr>
                      <a:r>
                        <a:rPr/>
                        <a:t>세계 최초의 Pokémon GO Lab 운영 중</a:t>
                      </a:r>
                    </a:p>
                  </a:txBody>
                </a:tc>
              </a:tr>
              <a:tr h="0">
                <a:tc>
                  <a:txBody>
                    <a:bodyPr/>
                    <a:lstStyle/>
                    <a:p>
                      <a:pPr lvl="0" indent="0" marL="0" algn="l">
                        <a:buNone/>
                      </a:pPr>
                      <a:r>
                        <a:rPr b="1"/>
                        <a:t>원피스 스트로헷</a:t>
                      </a:r>
                    </a:p>
                  </a:txBody>
                </a:tc>
                <a:tc>
                  <a:txBody>
                    <a:bodyPr/>
                    <a:lstStyle/>
                    <a:p>
                      <a:pPr lvl="0" indent="0" marL="0" algn="l">
                        <a:buNone/>
                      </a:pPr>
                      <a:r>
                        <a:rPr/>
                        <a:t>원피스 공식 오리지널 굿즈</a:t>
                      </a:r>
                    </a:p>
                  </a:txBody>
                </a:tc>
                <a:tc>
                  <a:txBody>
                    <a:bodyPr/>
                    <a:lstStyle/>
                    <a:p>
                      <a:pPr lvl="0" indent="0" marL="0" algn="l">
                        <a:buNone/>
                      </a:pPr>
                      <a:r>
                        <a:rPr/>
                        <a:t>샹크스 명장면 재현 등 다양한 포토 스팟 존재</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아니메이트의 방대한 컬렉션</a:t>
            </a:r>
            <a:r>
              <a:rPr/>
              <a:t>: 해외에서는 보기 힘든 일본어 오리지널 주간지나 라이트 노벨을 번역을 기다리지 않고 최신 상태로 구매 가능함.</a:t>
            </a:r>
          </a:p>
          <a:p>
            <a:pPr lvl="0"/>
            <a:r>
              <a:rPr b="1"/>
              <a:t>만다라케의 감동</a:t>
            </a:r>
            <a:r>
              <a:rPr/>
              <a:t>: 클래식 애니메이션 시리즈가 당시의 포장 상태 그대로 진열되어 있어 추억 속 작품과 재회하는 특별한 경험을 제공함.</a:t>
            </a:r>
          </a:p>
          <a:p>
            <a:pPr lvl="0"/>
            <a:r>
              <a:rPr b="1"/>
              <a:t>라디오회관의 탐험</a:t>
            </a:r>
            <a:r>
              <a:rPr/>
              <a:t>: AmiAmi 등 인기 콜렉터 숍이 층별로 깔끔하게 나뉘어 있어 에스컬레이터를 탈 때마다 새로운 탐험을 하는 기분을 줌.</a:t>
            </a:r>
          </a:p>
          <a:p>
            <a:pPr lvl="0"/>
            <a:r>
              <a:rPr b="1"/>
              <a:t>한정판 굿즈 구매 팁</a:t>
            </a:r>
            <a:r>
              <a:rPr/>
              <a:t>: 지점별 한정 패키지나 특전 상품은 빠르게 품절되므로 망설이지 말고 그 자리에서 바로 구입하는 것이 현명함.</a:t>
            </a:r>
          </a:p>
          <a:p>
            <a:pPr lvl="0"/>
            <a:r>
              <a:rPr b="1"/>
              <a:t>중고 상품 면세 확인</a:t>
            </a:r>
            <a:r>
              <a:rPr/>
              <a:t>: 새 상품과 달리 중고 굿즈는 면세 대상에서 제외되는 매장이 많으므로 결제 전 반드시 면세 가능 여부를 확인해야 함.</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15. 도쿄에서 위스키 및 사케(니혼슈) 쇼핑하기</a:t>
            </a:r>
          </a:p>
        </p:txBody>
      </p:sp>
      <p:sp>
        <p:nvSpPr>
          <p:cNvPr id="4" name="Text Placeholder 3"/>
          <p:cNvSpPr>
            <a:spLocks noGrp="1"/>
          </p:cNvSpPr>
          <p:nvPr>
            <p:ph idx="2" sz="half" type="body"/>
          </p:nvPr>
        </p:nvSpPr>
        <p:spPr/>
        <p:txBody>
          <a:bodyPr/>
          <a:lstStyle/>
          <a:p>
            <a:pPr lvl="0" indent="0" marL="0">
              <a:buNone/>
            </a:pPr>
            <a:r>
              <a:rPr/>
              <a:t>도쿄에는 프리미엄 위스키부터 각 지역의 명주까지 일본의 독특한 주류 문화를 체험하고 구매할 수 있는 전문 매장들이 가득합니다. 백화점 식품관이나 가전 제품 매장의 주류 코너는 뜻밖의 희귀 아이템을 발견하기 좋은 장소입니다.</a:t>
            </a:r>
          </a:p>
          <a:p>
            <a:pPr lvl="0" indent="0" marL="0">
              <a:buNone/>
            </a:pPr>
            <a:r>
              <a:rPr b="1"/>
              <a:t>[표 8] 도쿄 주요 주류 쇼핑 명소</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매장명</a:t>
                      </a:r>
                    </a:p>
                  </a:txBody>
                  <a:tcPr/>
                </a:tc>
                <a:tc>
                  <a:txBody>
                    <a:bodyPr/>
                    <a:lstStyle/>
                    <a:p>
                      <a:pPr lvl="0" indent="0" marL="0" algn="l">
                        <a:buNone/>
                      </a:pPr>
                      <a:r>
                        <a:rPr/>
                        <a:t>주력 품목</a:t>
                      </a:r>
                    </a:p>
                  </a:txBody>
                  <a:tcPr/>
                </a:tc>
                <a:tc>
                  <a:txBody>
                    <a:bodyPr/>
                    <a:lstStyle/>
                    <a:p>
                      <a:pPr lvl="0" indent="0" marL="0" algn="l">
                        <a:buNone/>
                      </a:pPr>
                      <a:r>
                        <a:rPr/>
                        <a:t>추천 포인트</a:t>
                      </a:r>
                    </a:p>
                  </a:txBody>
                  <a:tcPr/>
                </a:tc>
              </a:tr>
              <a:tr h="0">
                <a:tc>
                  <a:txBody>
                    <a:bodyPr/>
                    <a:lstStyle/>
                    <a:p>
                      <a:pPr lvl="0" indent="0" marL="0" algn="l">
                        <a:buNone/>
                      </a:pPr>
                      <a:r>
                        <a:rPr b="1"/>
                        <a:t>이세탄 신주쿠</a:t>
                      </a:r>
                    </a:p>
                  </a:txBody>
                </a:tc>
                <a:tc>
                  <a:txBody>
                    <a:bodyPr/>
                    <a:lstStyle/>
                    <a:p>
                      <a:pPr lvl="0" indent="0" marL="0" algn="l">
                        <a:buNone/>
                      </a:pPr>
                      <a:r>
                        <a:rPr/>
                        <a:t>사케, 크래프트 비어</a:t>
                      </a:r>
                    </a:p>
                  </a:txBody>
                </a:tc>
                <a:tc>
                  <a:txBody>
                    <a:bodyPr/>
                    <a:lstStyle/>
                    <a:p>
                      <a:pPr lvl="0" indent="0" marL="0" algn="l">
                        <a:buNone/>
                      </a:pPr>
                      <a:r>
                        <a:rPr/>
                        <a:t>220종의 맥주 바와 전문가 시음 카운터 운영</a:t>
                      </a:r>
                    </a:p>
                  </a:txBody>
                </a:tc>
              </a:tr>
              <a:tr h="0">
                <a:tc>
                  <a:txBody>
                    <a:bodyPr/>
                    <a:lstStyle/>
                    <a:p>
                      <a:pPr lvl="0" indent="0" marL="0" algn="l">
                        <a:buNone/>
                      </a:pPr>
                      <a:r>
                        <a:rPr b="1"/>
                        <a:t>세이조 이시이</a:t>
                      </a:r>
                    </a:p>
                  </a:txBody>
                </a:tc>
                <a:tc>
                  <a:txBody>
                    <a:bodyPr/>
                    <a:lstStyle/>
                    <a:p>
                      <a:pPr lvl="0" indent="0" marL="0" algn="l">
                        <a:buNone/>
                      </a:pPr>
                      <a:r>
                        <a:rPr/>
                        <a:t>프리미엄 와인, 츄하이</a:t>
                      </a:r>
                    </a:p>
                  </a:txBody>
                </a:tc>
                <a:tc>
                  <a:txBody>
                    <a:bodyPr/>
                    <a:lstStyle/>
                    <a:p>
                      <a:pPr lvl="0" indent="0" marL="0" algn="l">
                        <a:buNone/>
                      </a:pPr>
                      <a:r>
                        <a:rPr/>
                        <a:t>자체 브랜드 ‘리토 누보’ 와인과 안주류 풍부</a:t>
                      </a:r>
                    </a:p>
                  </a:txBody>
                </a:tc>
              </a:tr>
              <a:tr h="0">
                <a:tc>
                  <a:txBody>
                    <a:bodyPr/>
                    <a:lstStyle/>
                    <a:p>
                      <a:pPr lvl="0" indent="0" marL="0" algn="l">
                        <a:buNone/>
                      </a:pPr>
                      <a:r>
                        <a:rPr b="1"/>
                        <a:t>사케야 카쿠야스</a:t>
                      </a:r>
                    </a:p>
                  </a:txBody>
                </a:tc>
                <a:tc>
                  <a:txBody>
                    <a:bodyPr/>
                    <a:lstStyle/>
                    <a:p>
                      <a:pPr lvl="0" indent="0" marL="0" algn="l">
                        <a:buNone/>
                      </a:pPr>
                      <a:r>
                        <a:rPr/>
                        <a:t>일본 와인, 시즌 음료</a:t>
                      </a:r>
                    </a:p>
                  </a:txBody>
                </a:tc>
                <a:tc>
                  <a:txBody>
                    <a:bodyPr/>
                    <a:lstStyle/>
                    <a:p>
                      <a:pPr lvl="0" indent="0" marL="0" algn="l">
                        <a:buNone/>
                      </a:pPr>
                      <a:r>
                        <a:rPr/>
                        <a:t>사쿠라 향 등 기간 한정 제품과 뛰어난 가성비</a:t>
                      </a:r>
                    </a:p>
                  </a:txBody>
                </a:tc>
              </a:tr>
              <a:tr h="0">
                <a:tc>
                  <a:txBody>
                    <a:bodyPr/>
                    <a:lstStyle/>
                    <a:p>
                      <a:pPr lvl="0" indent="0" marL="0" algn="l">
                        <a:buNone/>
                      </a:pPr>
                      <a:r>
                        <a:rPr b="1"/>
                        <a:t>비노스 야마자키</a:t>
                      </a:r>
                    </a:p>
                  </a:txBody>
                </a:tc>
                <a:tc>
                  <a:txBody>
                    <a:bodyPr/>
                    <a:lstStyle/>
                    <a:p>
                      <a:pPr lvl="0" indent="0" marL="0" algn="l">
                        <a:buNone/>
                      </a:pPr>
                      <a:r>
                        <a:rPr/>
                        <a:t>직수입 와인</a:t>
                      </a:r>
                    </a:p>
                  </a:txBody>
                </a:tc>
                <a:tc>
                  <a:txBody>
                    <a:bodyPr/>
                    <a:lstStyle/>
                    <a:p>
                      <a:pPr lvl="0" indent="0" marL="0" algn="l">
                        <a:buNone/>
                      </a:pPr>
                      <a:r>
                        <a:rPr/>
                        <a:t>QR 코드를 통한 생산자 스토리 영상 제공</a:t>
                      </a:r>
                    </a:p>
                  </a:txBody>
                </a:tc>
              </a:tr>
              <a:tr h="0">
                <a:tc>
                  <a:txBody>
                    <a:bodyPr/>
                    <a:lstStyle/>
                    <a:p>
                      <a:pPr lvl="0" indent="0" marL="0" algn="l">
                        <a:buNone/>
                      </a:pPr>
                      <a:r>
                        <a:rPr b="1"/>
                        <a:t>롯데 시내 면세점</a:t>
                      </a:r>
                    </a:p>
                  </a:txBody>
                </a:tc>
                <a:tc>
                  <a:txBody>
                    <a:bodyPr/>
                    <a:lstStyle/>
                    <a:p>
                      <a:pPr lvl="0" indent="0" marL="0" algn="l">
                        <a:buNone/>
                      </a:pPr>
                      <a:r>
                        <a:rPr/>
                        <a:t>프리미엄 일본 위스키</a:t>
                      </a:r>
                    </a:p>
                  </a:txBody>
                </a:tc>
                <a:tc>
                  <a:txBody>
                    <a:bodyPr/>
                    <a:lstStyle/>
                    <a:p>
                      <a:pPr lvl="0" indent="0" marL="0" algn="l">
                        <a:buNone/>
                      </a:pPr>
                      <a:r>
                        <a:rPr/>
                        <a:t>야마자키, 하쿠슈 등 고급 목재 박스 패키지 제공</a:t>
                      </a:r>
                    </a:p>
                  </a:txBody>
                </a:tc>
              </a:tr>
              <a:tr h="0">
                <a:tc>
                  <a:txBody>
                    <a:bodyPr/>
                    <a:lstStyle/>
                    <a:p>
                      <a:pPr lvl="0" indent="0" marL="0" algn="l">
                        <a:buNone/>
                      </a:pPr>
                      <a:r>
                        <a:rPr b="1"/>
                        <a:t>빅카메라</a:t>
                      </a:r>
                    </a:p>
                  </a:txBody>
                </a:tc>
                <a:tc>
                  <a:txBody>
                    <a:bodyPr/>
                    <a:lstStyle/>
                    <a:p>
                      <a:pPr lvl="0" indent="0" marL="0" algn="l">
                        <a:buNone/>
                      </a:pPr>
                      <a:r>
                        <a:rPr/>
                        <a:t>사케 (닷사이, 핫카이산)</a:t>
                      </a:r>
                    </a:p>
                  </a:txBody>
                </a:tc>
                <a:tc>
                  <a:txBody>
                    <a:bodyPr/>
                    <a:lstStyle/>
                    <a:p>
                      <a:pPr lvl="0" indent="0" marL="0" algn="l">
                        <a:buNone/>
                      </a:pPr>
                      <a:r>
                        <a:rPr/>
                        <a:t>주류 구매 시 면세 10% + 추가 3% 할인 혜택</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백화점의 세심한 서비스</a:t>
            </a:r>
            <a:r>
              <a:rPr/>
              <a:t>: 이세탄 신주쿠에서는 매주 바뀌는 맥주 시음을 통해 자신의 취향에 맞는 완벽한 한 병을 직원의 안내로 찾을 수 있음.</a:t>
            </a:r>
          </a:p>
          <a:p>
            <a:pPr lvl="0"/>
            <a:r>
              <a:rPr b="1"/>
              <a:t>가성비 일본 와인</a:t>
            </a:r>
            <a:r>
              <a:rPr/>
              <a:t>: 사케야 카쿠야스에서 판매하는 ’야마나시 누보’는 토종 포도로 만들어 신선하며 2,200엔대의 합리적인 가격을 자랑함.</a:t>
            </a:r>
          </a:p>
          <a:p>
            <a:pPr lvl="0"/>
            <a:r>
              <a:rPr b="1"/>
              <a:t>면세 위스키의 인기</a:t>
            </a:r>
            <a:r>
              <a:rPr/>
              <a:t>: 야마자키와 하쿠슈 위스키는 품절이 잦으므로 면세점이나 전용 매장 진열대에서 발견하면 즉시 구매하는 것이 좋음.</a:t>
            </a:r>
          </a:p>
          <a:p>
            <a:pPr lvl="0"/>
            <a:r>
              <a:rPr b="1"/>
              <a:t>빅카메라의 의외성</a:t>
            </a:r>
            <a:r>
              <a:rPr/>
              <a:t>: 가전 매장이지만 ‘닷사이’ 같은 명주를 면세 가격과 추가 할인 쿠폰을 적용해 구매할 수 있어 알뜰 쇼핑에 유리함.</a:t>
            </a:r>
          </a:p>
          <a:p>
            <a:pPr lvl="0"/>
            <a:r>
              <a:rPr b="1"/>
              <a:t>주류 반입 규정 준수</a:t>
            </a:r>
            <a:r>
              <a:rPr/>
              <a:t>: 760ml 이하 병 3병까지 면세 반입이 가능하며, 총 구매액이 20만 엔을 초과할 경우 추가 관세가 부과될 수 있음에 유의함.</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16. 도쿄의 새로운 랜드마크: 아자부다이 힐즈와 팀랩</a:t>
            </a:r>
          </a:p>
        </p:txBody>
      </p:sp>
      <p:sp>
        <p:nvSpPr>
          <p:cNvPr id="3" name="Content Placeholder 2"/>
          <p:cNvSpPr>
            <a:spLocks noGrp="1"/>
          </p:cNvSpPr>
          <p:nvPr>
            <p:ph idx="1"/>
          </p:nvPr>
        </p:nvSpPr>
        <p:spPr/>
        <p:txBody>
          <a:bodyPr/>
          <a:lstStyle/>
          <a:p>
            <a:pPr lvl="0" indent="0" marL="0">
              <a:buNone/>
            </a:pPr>
            <a:r>
              <a:rPr/>
              <a:t>2024년 이후 도쿄를 방문한다면 가장 핫한 복합 문화 공간인 아자부다이 힐즈를 놓치지 말아야 합니다. 일본 최고 높이의 빌딩과 풍부한 녹지, 그리고 디지털 아트의 조화가 여행객들을 매료시킵니다.</a:t>
            </a:r>
          </a:p>
          <a:p>
            <a:pPr lvl="0"/>
            <a:r>
              <a:rPr b="1"/>
              <a:t>컴팩트 도시의 구현</a:t>
            </a:r>
            <a:r>
              <a:rPr/>
              <a:t>: 약 2만 4천 제곱미터의 녹지 공간을 조성하여 도심 한복판에서도 건강하고 녹색 가득한 라이프스타일을 체험할 수 있음.</a:t>
            </a:r>
          </a:p>
          <a:p>
            <a:pPr lvl="0"/>
            <a:r>
              <a:rPr b="1"/>
              <a:t>팀랩 보더리스의 귀환</a:t>
            </a:r>
            <a:r>
              <a:rPr/>
              <a:t>: 모리 빌딩 디지털 아트 뮤지엄이 이곳으로 이전하여 계절 따라 변하는 디지털 꽃과 거울 공간으로 환상적인 예술 경험을 제공함.</a:t>
            </a:r>
          </a:p>
          <a:p>
            <a:pPr lvl="0"/>
            <a:r>
              <a:rPr b="1"/>
              <a:t>스카이 로비 전망</a:t>
            </a:r>
            <a:r>
              <a:rPr/>
              <a:t>: 아자부다이 힐즈 33층 전망대에서는 도쿄 타워를 정면에서 바라보며 파노라마로 펼쳐지는 도시의 매혹적인 전경을 감상 가능함.</a:t>
            </a:r>
          </a:p>
          <a:p>
            <a:pPr lvl="0"/>
            <a:r>
              <a:rPr b="1"/>
              <a:t>미식과 카페의 성지</a:t>
            </a:r>
            <a:r>
              <a:rPr/>
              <a:t>: 교토에서 온 세계적인 스페셜티 커피 ‘아라비카’ 카페와 육즙 가득한 함바그 스테이크 전문점 등이 입점해 입을 즐겁게 함.</a:t>
            </a:r>
          </a:p>
          <a:p>
            <a:pPr lvl="0"/>
            <a:r>
              <a:rPr b="1"/>
              <a:t>건축적 가치와 쇼핑</a:t>
            </a:r>
            <a:r>
              <a:rPr/>
              <a:t>: 세련된 야외 문화 경관과 하이엔드 브랜드 매장이 조화를 이루며 길을 잃기 쉬울 정도로 거대한 지하 토끼굴 구조가 특징적임.</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17. 현지인이 추천하는 도쿄 로컬 맛집 리스트</a:t>
            </a:r>
          </a:p>
        </p:txBody>
      </p:sp>
      <p:sp>
        <p:nvSpPr>
          <p:cNvPr id="4" name="Text Placeholder 3"/>
          <p:cNvSpPr>
            <a:spLocks noGrp="1"/>
          </p:cNvSpPr>
          <p:nvPr>
            <p:ph idx="2" sz="half" type="body"/>
          </p:nvPr>
        </p:nvSpPr>
        <p:spPr/>
        <p:txBody>
          <a:bodyPr/>
          <a:lstStyle/>
          <a:p>
            <a:pPr lvl="0" indent="0" marL="0">
              <a:buNone/>
            </a:pPr>
            <a:r>
              <a:rPr/>
              <a:t>도쿄 여행의 행복을 배가시키는 로컬 맛집들은 현지인들의 입맛을 사로잡은 곳들로, 미슐랭 선정 식당부터 고독한 미식가 출연 매장까지 다양합니다. 예약이 필수인 곳이 많으므로 사전 확인이 필요합니다.</a:t>
            </a:r>
          </a:p>
          <a:p>
            <a:pPr lvl="0" indent="0" marL="0">
              <a:buNone/>
            </a:pPr>
            <a:r>
              <a:rPr b="1"/>
              <a:t>[표 9] 도쿄 현지 거주 서포터즈 엄선 맛집</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식당명</a:t>
                      </a:r>
                    </a:p>
                  </a:txBody>
                  <a:tcPr/>
                </a:tc>
                <a:tc>
                  <a:txBody>
                    <a:bodyPr/>
                    <a:lstStyle/>
                    <a:p>
                      <a:pPr lvl="0" indent="0" marL="0" algn="l">
                        <a:buNone/>
                      </a:pPr>
                      <a:r>
                        <a:rPr/>
                        <a:t>주요 메뉴</a:t>
                      </a:r>
                    </a:p>
                  </a:txBody>
                  <a:tcPr/>
                </a:tc>
                <a:tc>
                  <a:txBody>
                    <a:bodyPr/>
                    <a:lstStyle/>
                    <a:p>
                      <a:pPr lvl="0" indent="0" marL="0" algn="l">
                        <a:buNone/>
                      </a:pPr>
                      <a:r>
                        <a:rPr/>
                        <a:t>특징</a:t>
                      </a:r>
                    </a:p>
                  </a:txBody>
                  <a:tcPr/>
                </a:tc>
              </a:tr>
              <a:tr h="0">
                <a:tc>
                  <a:txBody>
                    <a:bodyPr/>
                    <a:lstStyle/>
                    <a:p>
                      <a:pPr lvl="0" indent="0" marL="0" algn="l">
                        <a:buNone/>
                      </a:pPr>
                      <a:r>
                        <a:rPr b="1"/>
                        <a:t>이마카츠 롯폰기</a:t>
                      </a:r>
                    </a:p>
                  </a:txBody>
                </a:tc>
                <a:tc>
                  <a:txBody>
                    <a:bodyPr/>
                    <a:lstStyle/>
                    <a:p>
                      <a:pPr lvl="0" indent="0" marL="0" algn="l">
                        <a:buNone/>
                      </a:pPr>
                      <a:r>
                        <a:rPr/>
                        <a:t>닭가슴살 카츠</a:t>
                      </a:r>
                    </a:p>
                  </a:txBody>
                </a:tc>
                <a:tc>
                  <a:txBody>
                    <a:bodyPr/>
                    <a:lstStyle/>
                    <a:p>
                      <a:pPr lvl="0" indent="0" marL="0" algn="l">
                        <a:buNone/>
                      </a:pPr>
                      <a:r>
                        <a:rPr/>
                        <a:t>부드럽고 촉촉한 식감으로 미슐랭 선정</a:t>
                      </a:r>
                    </a:p>
                  </a:txBody>
                </a:tc>
              </a:tr>
              <a:tr h="0">
                <a:tc>
                  <a:txBody>
                    <a:bodyPr/>
                    <a:lstStyle/>
                    <a:p>
                      <a:pPr lvl="0" indent="0" marL="0" algn="l">
                        <a:buNone/>
                      </a:pPr>
                      <a:r>
                        <a:rPr b="1"/>
                        <a:t>요시 본점</a:t>
                      </a:r>
                    </a:p>
                  </a:txBody>
                </a:tc>
                <a:tc>
                  <a:txBody>
                    <a:bodyPr/>
                    <a:lstStyle/>
                    <a:p>
                      <a:pPr lvl="0" indent="0" marL="0" algn="l">
                        <a:buNone/>
                      </a:pPr>
                      <a:r>
                        <a:rPr/>
                        <a:t>함바그 세트</a:t>
                      </a:r>
                    </a:p>
                  </a:txBody>
                </a:tc>
                <a:tc>
                  <a:txBody>
                    <a:bodyPr/>
                    <a:lstStyle/>
                    <a:p>
                      <a:pPr lvl="0" indent="0" marL="0" algn="l">
                        <a:buNone/>
                      </a:pPr>
                      <a:r>
                        <a:rPr/>
                        <a:t>먹는 속도에 맞춰 직원이 하나씩 구워줌</a:t>
                      </a:r>
                    </a:p>
                  </a:txBody>
                </a:tc>
              </a:tr>
              <a:tr h="0">
                <a:tc>
                  <a:txBody>
                    <a:bodyPr/>
                    <a:lstStyle/>
                    <a:p>
                      <a:pPr lvl="0" indent="0" marL="0" algn="l">
                        <a:buNone/>
                      </a:pPr>
                      <a:r>
                        <a:rPr b="1"/>
                        <a:t>사토 요스케 긴자</a:t>
                      </a:r>
                    </a:p>
                  </a:txBody>
                </a:tc>
                <a:tc>
                  <a:txBody>
                    <a:bodyPr/>
                    <a:lstStyle/>
                    <a:p>
                      <a:pPr lvl="0" indent="0" marL="0" algn="l">
                        <a:buNone/>
                      </a:pPr>
                      <a:r>
                        <a:rPr/>
                        <a:t>이나니와 우동</a:t>
                      </a:r>
                    </a:p>
                  </a:txBody>
                </a:tc>
                <a:tc>
                  <a:txBody>
                    <a:bodyPr/>
                    <a:lstStyle/>
                    <a:p>
                      <a:pPr lvl="0" indent="0" marL="0" algn="l">
                        <a:buNone/>
                      </a:pPr>
                      <a:r>
                        <a:rPr/>
                        <a:t>160년 전통의 납작한 수제 우동면</a:t>
                      </a:r>
                    </a:p>
                  </a:txBody>
                </a:tc>
              </a:tr>
              <a:tr h="0">
                <a:tc>
                  <a:txBody>
                    <a:bodyPr/>
                    <a:lstStyle/>
                    <a:p>
                      <a:pPr lvl="0" indent="0" marL="0" algn="l">
                        <a:buNone/>
                      </a:pPr>
                      <a:r>
                        <a:rPr b="1"/>
                        <a:t>샤브타츠 니시스가모</a:t>
                      </a:r>
                    </a:p>
                  </a:txBody>
                </a:tc>
                <a:tc>
                  <a:txBody>
                    <a:bodyPr/>
                    <a:lstStyle/>
                    <a:p>
                      <a:pPr lvl="0" indent="0" marL="0" algn="l">
                        <a:buNone/>
                      </a:pPr>
                      <a:r>
                        <a:rPr/>
                        <a:t>스키야키 정식</a:t>
                      </a:r>
                    </a:p>
                  </a:txBody>
                </a:tc>
                <a:tc>
                  <a:txBody>
                    <a:bodyPr/>
                    <a:lstStyle/>
                    <a:p>
                      <a:pPr lvl="0" indent="0" marL="0" algn="l">
                        <a:buNone/>
                      </a:pPr>
                      <a:r>
                        <a:rPr/>
                        <a:t>고독한 미식가 출연, 런치 1만 원대 가성비</a:t>
                      </a:r>
                    </a:p>
                  </a:txBody>
                </a:tc>
              </a:tr>
              <a:tr h="0">
                <a:tc>
                  <a:txBody>
                    <a:bodyPr/>
                    <a:lstStyle/>
                    <a:p>
                      <a:pPr lvl="0" indent="0" marL="0" algn="l">
                        <a:buNone/>
                      </a:pPr>
                      <a:r>
                        <a:rPr b="1"/>
                        <a:t>고다이메 하나야마</a:t>
                      </a:r>
                    </a:p>
                  </a:txBody>
                </a:tc>
                <a:tc>
                  <a:txBody>
                    <a:bodyPr/>
                    <a:lstStyle/>
                    <a:p>
                      <a:pPr lvl="0" indent="0" marL="0" algn="l">
                        <a:buNone/>
                      </a:pPr>
                      <a:r>
                        <a:rPr/>
                        <a:t>넓적 우동</a:t>
                      </a:r>
                    </a:p>
                  </a:txBody>
                </a:tc>
                <a:tc>
                  <a:txBody>
                    <a:bodyPr/>
                    <a:lstStyle/>
                    <a:p>
                      <a:pPr lvl="0" indent="0" marL="0" algn="l">
                        <a:buNone/>
                      </a:pPr>
                      <a:r>
                        <a:rPr/>
                        <a:t>5대째 이어진 쫄깃한 ‘오니히모카와’ 면발</a:t>
                      </a:r>
                    </a:p>
                  </a:txBody>
                </a:tc>
              </a:tr>
              <a:tr h="0">
                <a:tc>
                  <a:txBody>
                    <a:bodyPr/>
                    <a:lstStyle/>
                    <a:p>
                      <a:pPr lvl="0" indent="0" marL="0" algn="l">
                        <a:buNone/>
                      </a:pPr>
                      <a:r>
                        <a:rPr b="1"/>
                        <a:t>부타구미</a:t>
                      </a:r>
                    </a:p>
                  </a:txBody>
                </a:tc>
                <a:tc>
                  <a:txBody>
                    <a:bodyPr/>
                    <a:lstStyle/>
                    <a:p>
                      <a:pPr lvl="0" indent="0" marL="0" algn="l">
                        <a:buNone/>
                      </a:pPr>
                      <a:r>
                        <a:rPr/>
                        <a:t>3cm 로즈 카츠</a:t>
                      </a:r>
                    </a:p>
                  </a:txBody>
                </a:tc>
                <a:tc>
                  <a:txBody>
                    <a:bodyPr/>
                    <a:lstStyle/>
                    <a:p>
                      <a:pPr lvl="0" indent="0" marL="0" algn="l">
                        <a:buNone/>
                      </a:pPr>
                      <a:r>
                        <a:rPr/>
                        <a:t>육즙 가득한 두툼한 두께의 정통 돈카츠</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우동의 정점 사토 요스케</a:t>
            </a:r>
            <a:r>
              <a:rPr/>
              <a:t>: 탱탱한 우동면 본연의 감칠맛을 느끼기 위해 찍어 먹는 자루 우동 스타일을 권장하며 수제 면은 선물용으로도 좋음.</a:t>
            </a:r>
          </a:p>
          <a:p>
            <a:pPr lvl="0"/>
            <a:r>
              <a:rPr b="1"/>
              <a:t>나만의 소금 라면</a:t>
            </a:r>
            <a:r>
              <a:rPr/>
              <a:t>: 오레류 시오라멘에서는 육수의 종류와 맵기, 면의 익힘 정도를 직접 선택하여 자신의 취향에 맞는 완벽한 한 그릇을 완성함.</a:t>
            </a:r>
          </a:p>
          <a:p>
            <a:pPr lvl="0"/>
            <a:r>
              <a:rPr b="1"/>
              <a:t>합리적인 고베규 체험</a:t>
            </a:r>
            <a:r>
              <a:rPr/>
              <a:t>: 고베 뎃판야키 하쿠슈에서는 도쿄 최고의 고베규를 비교적 저렴한 가격에 눈앞에서 구워주는 철판 요리로 즐길 수 있음.</a:t>
            </a:r>
          </a:p>
          <a:p>
            <a:pPr lvl="0"/>
            <a:r>
              <a:rPr b="1"/>
              <a:t>가이세키의 현대적 재해석</a:t>
            </a:r>
            <a:r>
              <a:rPr/>
              <a:t>: 미쉐린 2스타 레스토랑 ’덴’은 푸아그라 모나카와 덴터키 치킨 등 창의적인 메뉴로 아시아 베스트 식당에 선정됨.</a:t>
            </a:r>
          </a:p>
          <a:p>
            <a:pPr lvl="0"/>
            <a:r>
              <a:rPr b="1"/>
              <a:t>전통적인 튀김의 맛</a:t>
            </a:r>
            <a:r>
              <a:rPr/>
              <a:t>: 덴푸라 나카야마에서는 특제 검은 소스를 입힌 ’쿠로텐동’을 맛볼 수 있으며 겉바속촉의 식감이 일품인 단품 튀김도 훌륭함.</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18. 도쿄 디즈니 리조트 및 테마파크 완전 정복</a:t>
            </a:r>
          </a:p>
        </p:txBody>
      </p:sp>
      <p:sp>
        <p:nvSpPr>
          <p:cNvPr id="3" name="Content Placeholder 2"/>
          <p:cNvSpPr>
            <a:spLocks noGrp="1"/>
          </p:cNvSpPr>
          <p:nvPr>
            <p:ph idx="1"/>
          </p:nvPr>
        </p:nvSpPr>
        <p:spPr/>
        <p:txBody>
          <a:bodyPr/>
          <a:lstStyle/>
          <a:p>
            <a:pPr lvl="0" indent="0" marL="0">
              <a:buNone/>
            </a:pPr>
            <a:r>
              <a:rPr/>
              <a:t>도쿄 자유여행의 하이라이트 중 하나는 매머드급 테마파크인 도쿄 디즈니랜드와 디즈니 씨를 방문하는 것입니다. 각 파크는 뚜렷한 테마를 가지고 있어 하루 이상의 시간을 투자하는 것이 바람직합니다.</a:t>
            </a:r>
          </a:p>
          <a:p>
            <a:pPr lvl="0"/>
            <a:r>
              <a:rPr b="1"/>
              <a:t>디즈니랜드 vs 디즈니 씨</a:t>
            </a:r>
            <a:r>
              <a:rPr/>
              <a:t>: 클래식한 퍼레이드와 동화적 분위기를 원하면 랜드를, 전 세계 유일의 바다 테마와 짜릿한 어트랙션을 즐기려면 씨를 선택함.</a:t>
            </a:r>
          </a:p>
          <a:p>
            <a:pPr lvl="0"/>
            <a:r>
              <a:rPr b="1"/>
              <a:t>공식 앱 활용의 필수성</a:t>
            </a:r>
            <a:r>
              <a:rPr/>
              <a:t>: 전날 밤부터 공식 앱을 통해 인기 기구의 대기 시간을 확인하고 DPA(유료 우선권) 등을 구매해 대기 시간을 최소화함.</a:t>
            </a:r>
          </a:p>
          <a:p>
            <a:pPr lvl="0"/>
            <a:r>
              <a:rPr b="1"/>
              <a:t>오픈런 전략</a:t>
            </a:r>
            <a:r>
              <a:rPr/>
              <a:t>: 원하는 인기 어트랙션을 선점하기 위해 개장 시간 최소 1시간 전에는 도착하여 입장 대기 줄을 서는 정성이 필요함.</a:t>
            </a:r>
          </a:p>
          <a:p>
            <a:pPr lvl="0"/>
            <a:r>
              <a:rPr b="1"/>
              <a:t>교통 및 숙소 접근성</a:t>
            </a:r>
            <a:r>
              <a:rPr/>
              <a:t>: JR 마이하마 역에서 바로 연결되며, 공항이나 주요 거점에서 출발하는 셔틀버스를 운영하는 호텔을 예약하면 더욱 편리함.</a:t>
            </a:r>
          </a:p>
          <a:p>
            <a:pPr lvl="0"/>
            <a:r>
              <a:rPr b="1"/>
              <a:t>시즌별 이벤트 즐기기</a:t>
            </a:r>
            <a:r>
              <a:rPr/>
              <a:t>: 할로윈이나 크리스마스 시즌에는 테마별 장식과 한정판 굿즈가 출시되어 방문객들에게 색다른 즐거움을 선사함.</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19. 2026년 면세 제도 개편 및 미래 대응 방안</a:t>
            </a:r>
          </a:p>
        </p:txBody>
      </p:sp>
      <p:sp>
        <p:nvSpPr>
          <p:cNvPr id="4" name="Text Placeholder 3"/>
          <p:cNvSpPr>
            <a:spLocks noGrp="1"/>
          </p:cNvSpPr>
          <p:nvPr>
            <p:ph idx="2" sz="half" type="body"/>
          </p:nvPr>
        </p:nvSpPr>
        <p:spPr/>
        <p:txBody>
          <a:bodyPr/>
          <a:lstStyle/>
          <a:p>
            <a:pPr lvl="0" indent="0" marL="0">
              <a:buNone/>
            </a:pPr>
            <a:r>
              <a:rPr/>
              <a:t>일본 정부는 부정 거래 방지를 위해 2026년 11월부터 현재의 즉시 면세 제도(Tax-free)를 사후 환급 제도(Tax-refund)로 변경할 예정입니다. 이에 따른 쇼핑 방식의 변화와 여행 시장의 대응을 사전에 인지할 필요가 있습니다.</a:t>
            </a:r>
          </a:p>
          <a:p>
            <a:pPr lvl="0" indent="0" marL="0">
              <a:buNone/>
            </a:pPr>
            <a:r>
              <a:rPr b="1"/>
              <a:t>[표 10] 일본 면세 제도 변경 전후 비교 분석</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현행 (Before)</a:t>
                      </a:r>
                    </a:p>
                  </a:txBody>
                  <a:tcPr/>
                </a:tc>
                <a:tc>
                  <a:txBody>
                    <a:bodyPr/>
                    <a:lstStyle/>
                    <a:p>
                      <a:pPr lvl="0" indent="0" marL="0" algn="l">
                        <a:buNone/>
                      </a:pPr>
                      <a:r>
                        <a:rPr/>
                        <a:t>개편 예정 (After 2026.11)</a:t>
                      </a:r>
                    </a:p>
                  </a:txBody>
                  <a:tcPr/>
                </a:tc>
              </a:tr>
              <a:tr h="0">
                <a:tc>
                  <a:txBody>
                    <a:bodyPr/>
                    <a:lstStyle/>
                    <a:p>
                      <a:pPr lvl="0" indent="0" marL="0" algn="l">
                        <a:buNone/>
                      </a:pPr>
                      <a:r>
                        <a:rPr b="1"/>
                        <a:t>구매 방식</a:t>
                      </a:r>
                    </a:p>
                  </a:txBody>
                </a:tc>
                <a:tc>
                  <a:txBody>
                    <a:bodyPr/>
                    <a:lstStyle/>
                    <a:p>
                      <a:pPr lvl="0" indent="0" marL="0" algn="l">
                        <a:buNone/>
                      </a:pPr>
                      <a:r>
                        <a:rPr/>
                        <a:t>매장에서 소비세 0% 즉시 구매</a:t>
                      </a:r>
                    </a:p>
                  </a:txBody>
                </a:tc>
                <a:tc>
                  <a:txBody>
                    <a:bodyPr/>
                    <a:lstStyle/>
                    <a:p>
                      <a:pPr lvl="0" indent="0" marL="0" algn="l">
                        <a:buNone/>
                      </a:pPr>
                      <a:r>
                        <a:rPr/>
                        <a:t>소비세 10% 포함가로 결제</a:t>
                      </a:r>
                    </a:p>
                  </a:txBody>
                </a:tc>
              </a:tr>
              <a:tr h="0">
                <a:tc>
                  <a:txBody>
                    <a:bodyPr/>
                    <a:lstStyle/>
                    <a:p>
                      <a:pPr lvl="0" indent="0" marL="0" algn="l">
                        <a:buNone/>
                      </a:pPr>
                      <a:r>
                        <a:rPr b="1"/>
                        <a:t>환급 절차</a:t>
                      </a:r>
                    </a:p>
                  </a:txBody>
                </a:tc>
                <a:tc>
                  <a:txBody>
                    <a:bodyPr/>
                    <a:lstStyle/>
                    <a:p>
                      <a:pPr lvl="0" indent="0" marL="0" algn="l">
                        <a:buNone/>
                      </a:pPr>
                      <a:r>
                        <a:rPr/>
                        <a:t>해당 사항 없음</a:t>
                      </a:r>
                    </a:p>
                  </a:txBody>
                </a:tc>
                <a:tc>
                  <a:txBody>
                    <a:bodyPr/>
                    <a:lstStyle/>
                    <a:p>
                      <a:pPr lvl="0" indent="0" marL="0" algn="l">
                        <a:buNone/>
                      </a:pPr>
                      <a:r>
                        <a:rPr/>
                        <a:t>출국 시 공항 세관 등에서 환급</a:t>
                      </a:r>
                    </a:p>
                  </a:txBody>
                </a:tc>
              </a:tr>
              <a:tr h="0">
                <a:tc>
                  <a:txBody>
                    <a:bodyPr/>
                    <a:lstStyle/>
                    <a:p>
                      <a:pPr lvl="0" indent="0" marL="0" algn="l">
                        <a:buNone/>
                      </a:pPr>
                      <a:r>
                        <a:rPr b="1"/>
                        <a:t>부담 요인</a:t>
                      </a:r>
                    </a:p>
                  </a:txBody>
                </a:tc>
                <a:tc>
                  <a:txBody>
                    <a:bodyPr/>
                    <a:lstStyle/>
                    <a:p>
                      <a:pPr lvl="0" indent="0" marL="0" algn="l">
                        <a:buNone/>
                      </a:pPr>
                      <a:r>
                        <a:rPr/>
                        <a:t>수수료 없음</a:t>
                      </a:r>
                    </a:p>
                  </a:txBody>
                </a:tc>
                <a:tc>
                  <a:txBody>
                    <a:bodyPr/>
                    <a:lstStyle/>
                    <a:p>
                      <a:pPr lvl="0" indent="0" marL="0" algn="l">
                        <a:buNone/>
                      </a:pPr>
                      <a:r>
                        <a:rPr/>
                        <a:t>환급 시 일정 금액의 수수료 발생</a:t>
                      </a:r>
                    </a:p>
                  </a:txBody>
                </a:tc>
              </a:tr>
              <a:tr h="0">
                <a:tc>
                  <a:txBody>
                    <a:bodyPr/>
                    <a:lstStyle/>
                    <a:p>
                      <a:pPr lvl="0" indent="0" marL="0" algn="l">
                        <a:buNone/>
                      </a:pPr>
                      <a:r>
                        <a:rPr b="1"/>
                        <a:t>검사 절차</a:t>
                      </a:r>
                    </a:p>
                  </a:txBody>
                </a:tc>
                <a:tc>
                  <a:txBody>
                    <a:bodyPr/>
                    <a:lstStyle/>
                    <a:p>
                      <a:pPr lvl="0" indent="0" marL="0" algn="l">
                        <a:buNone/>
                      </a:pPr>
                      <a:r>
                        <a:rPr/>
                        <a:t>임의적인 세관 검사</a:t>
                      </a:r>
                    </a:p>
                  </a:txBody>
                </a:tc>
                <a:tc>
                  <a:txBody>
                    <a:bodyPr/>
                    <a:lstStyle/>
                    <a:p>
                      <a:pPr lvl="0" indent="0" marL="0" algn="l">
                        <a:buNone/>
                      </a:pPr>
                      <a:r>
                        <a:rPr/>
                        <a:t>세관 확인 및 본인 확인 절차 강화</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부정 거래 근절</a:t>
            </a:r>
            <a:r>
              <a:rPr/>
              <a:t>: 고액 구매자가 세금을 내지 않고 출국하는 사례를 방지하여 국가 세수 손실을 줄이고 시장 질서를 바로잡기 위한 조치임.</a:t>
            </a:r>
          </a:p>
          <a:p>
            <a:pPr lvl="0"/>
            <a:r>
              <a:rPr b="1"/>
              <a:t>소매점 부담 완화</a:t>
            </a:r>
            <a:r>
              <a:rPr/>
              <a:t>: 일반 물품과 소모품 구분 및 특수 포장 등의 복잡한 절차가 해소되어 매장 측의 운영 효율이 높아질 것으로 예상됨.</a:t>
            </a:r>
          </a:p>
          <a:p>
            <a:pPr lvl="0"/>
            <a:r>
              <a:rPr b="1"/>
              <a:t>여행자 쇼핑 전략</a:t>
            </a:r>
            <a:r>
              <a:rPr/>
              <a:t>: 2026년 말부터는 공항에서의 환급 대기 시간을 고려하여 귀국 당일 더욱 일찍 공항에 도착하는 일정이 필수가 될 것임.</a:t>
            </a:r>
          </a:p>
          <a:p>
            <a:pPr lvl="0"/>
            <a:r>
              <a:rPr b="1"/>
              <a:t>수익성 유지 전망</a:t>
            </a:r>
            <a:r>
              <a:rPr/>
              <a:t>: 주식회사 JTC와 같은 대형 유통 플랫폼은 강력한 송객 네트워크를 기반으로 하고 있어 제도 변화에도 안정적인 수익성 유지를 예상함.</a:t>
            </a:r>
          </a:p>
          <a:p>
            <a:pPr lvl="0"/>
            <a:r>
              <a:rPr b="1"/>
              <a:t>시장 다변화의 가속</a:t>
            </a:r>
            <a:r>
              <a:rPr/>
              <a:t>: 중·일 외교 갈등과 같은 지정학적 리스크에 대비하여 대만, 한국 및 동남아시아 시장의 비중을 확대하는 전략이 중요해짐.</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20. 도쿄 여행을 더 스마트하게 만드는 실용 팁 요약</a:t>
            </a:r>
          </a:p>
        </p:txBody>
      </p:sp>
      <p:sp>
        <p:nvSpPr>
          <p:cNvPr id="3" name="Content Placeholder 2"/>
          <p:cNvSpPr>
            <a:spLocks noGrp="1"/>
          </p:cNvSpPr>
          <p:nvPr>
            <p:ph idx="1"/>
          </p:nvPr>
        </p:nvSpPr>
        <p:spPr/>
        <p:txBody>
          <a:bodyPr/>
          <a:lstStyle/>
          <a:p>
            <a:pPr lvl="0" indent="0" marL="0">
              <a:buNone/>
            </a:pPr>
            <a:r>
              <a:rPr/>
              <a:t>도쿄 여행의 마무리는 현지 문화를 존중하고 최신 정보를 활용하는 스마트함에서 완성됩니다. 환전, 교통, 매너 등 작은 디테일이 여행의 전체적인 만족도를 결정짓습니다.</a:t>
            </a:r>
          </a:p>
          <a:p>
            <a:pPr lvl="0"/>
            <a:r>
              <a:rPr b="1"/>
              <a:t>스마트한 환전 타이밍</a:t>
            </a:r>
            <a:r>
              <a:rPr/>
              <a:t>: 현지 편의점 ATM(세븐은행)을 활용하는 것이 공항 환전보다 유리한 경우가 많으며 필요한 만큼 소액씩 인출함.</a:t>
            </a:r>
          </a:p>
          <a:p>
            <a:pPr lvl="0"/>
            <a:r>
              <a:rPr b="1"/>
              <a:t>교통 패스의 적재적소 활용</a:t>
            </a:r>
            <a:r>
              <a:rPr/>
              <a:t>: 도심 내 이동이 많다면 지하철 패스를, 하코네나 요코하마 등 근교로 나간다면 ’JR TOKYO Wide Pass’를 선택함.</a:t>
            </a:r>
          </a:p>
          <a:p>
            <a:pPr lvl="0"/>
            <a:r>
              <a:rPr b="1"/>
              <a:t>식사 시간의 유연함</a:t>
            </a:r>
            <a:r>
              <a:rPr/>
              <a:t>: 점심은 백화점 지하 식품관 ’데파치카’에서 합리적이고 높은 퀄리티의 도시락으로 해결하여 시간을 절약함.</a:t>
            </a:r>
          </a:p>
          <a:p>
            <a:pPr lvl="0"/>
            <a:r>
              <a:rPr b="1"/>
              <a:t>일본 법정 연령 준수</a:t>
            </a:r>
            <a:r>
              <a:rPr/>
              <a:t>: 일본의 법정 음주 가능 연령은 만 20세이므로 주류 구매 시 반드시 여권을 지시하고 셀프 계산대에서 확인 응답을 해야 함.</a:t>
            </a:r>
          </a:p>
          <a:p>
            <a:pPr lvl="0"/>
            <a:r>
              <a:rPr b="1"/>
              <a:t>현지 문화와 안전 제일</a:t>
            </a:r>
            <a:r>
              <a:rPr/>
              <a:t>: 사람이 붐비는 곳에서는 소지품 관리에 유의하고, 줄 서기 문화와 조용한 대화 등 현지 매너를 지키는 성숙한 자세가 필요함.</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 도쿄 여행은 거대한 기계 장치와 같습니다.</a:t>
            </a:r>
            <a:r>
              <a:rPr/>
              <a:t> 수많은 부품(교통, 맛집, 쇼핑)이 정교하게 맞물려 돌아가므로, 여행자라는 이름의 운영자가 미리 사용 설명서(가이드)를 잘 숙지할수록 더욱 매끄럽고 완벽한 추억이라는 결과물을 얻을 수 있습니다.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2025-12-24T06:14:09Z</dcterms:created>
  <dcterms:modified xsi:type="dcterms:W3CDTF">2025-12-24T06:14:09Z</dcterms:modified>
</cp:coreProperties>
</file>

<file path=docProps/custom.xml><?xml version="1.0" encoding="utf-8"?>
<Properties xmlns="http://schemas.openxmlformats.org/officeDocument/2006/custom-properties" xmlns:vt="http://schemas.openxmlformats.org/officeDocument/2006/docPropsVTypes"/>
</file>